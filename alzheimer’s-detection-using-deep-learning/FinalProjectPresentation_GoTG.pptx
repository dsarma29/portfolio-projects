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20"/>
  </p:notesMasterIdLst>
  <p:sldIdLst>
    <p:sldId id="278" r:id="rId2"/>
    <p:sldId id="256" r:id="rId3"/>
    <p:sldId id="258" r:id="rId4"/>
    <p:sldId id="259" r:id="rId5"/>
    <p:sldId id="260" r:id="rId6"/>
    <p:sldId id="261" r:id="rId7"/>
    <p:sldId id="272" r:id="rId8"/>
    <p:sldId id="274" r:id="rId9"/>
    <p:sldId id="276" r:id="rId10"/>
    <p:sldId id="275" r:id="rId11"/>
    <p:sldId id="266" r:id="rId12"/>
    <p:sldId id="264" r:id="rId13"/>
    <p:sldId id="267" r:id="rId14"/>
    <p:sldId id="265" r:id="rId15"/>
    <p:sldId id="268" r:id="rId16"/>
    <p:sldId id="269" r:id="rId17"/>
    <p:sldId id="270" r:id="rId18"/>
    <p:sldId id="271" r:id="rId19"/>
  </p:sldIdLst>
  <p:sldSz cx="14630400" cy="8229600"/>
  <p:notesSz cx="8229600" cy="14630400"/>
  <p:embeddedFontLst>
    <p:embeddedFont>
      <p:font typeface="Kanit Light" panose="020B0604020202020204" charset="-34"/>
      <p:regular r:id="rId21"/>
    </p:embeddedFont>
    <p:embeddedFont>
      <p:font typeface="Martel Sans" panose="020B0604020202020204" charset="0"/>
      <p:bold r:id="rId22"/>
    </p:embeddedFont>
    <p:embeddedFont>
      <p:font typeface="Segoe UI" panose="020B0502040204020203" pitchFamily="34" charset="0"/>
      <p:regular r:id="rId23"/>
      <p:bold r:id="rId24"/>
      <p:italic r:id="rId25"/>
      <p:boldItalic r:id="rId2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5196" autoAdjust="0"/>
  </p:normalViewPr>
  <p:slideViewPr>
    <p:cSldViewPr snapToGrid="0" snapToObjects="1">
      <p:cViewPr varScale="1">
        <p:scale>
          <a:sx n="68" d="100"/>
          <a:sy n="68" d="100"/>
        </p:scale>
        <p:origin x="715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font" Target="fonts/font1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5/5/2025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3359F2-43EF-4812-9DC0-98C0B1A40681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352330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5E9CC1-C706-0F49-92D6-E571CC5EEA8F}" type="slidenum">
              <a:rPr lang="en-US" smtClean="0"/>
              <a:t>15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5E9CC1-C706-0F49-92D6-E571CC5EEA8F}" type="slidenum">
              <a:rPr lang="en-US" smtClean="0"/>
              <a:t>16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5E9CC1-C706-0F49-92D6-E571CC5EEA8F}" type="slidenum">
              <a:rPr lang="en-US" smtClean="0"/>
              <a:t>17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5E9CC1-C706-0F49-92D6-E571CC5EEA8F}" type="slidenum">
              <a:rPr lang="en-US" smtClean="0"/>
              <a:t>18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31937252-EACE-4232-855F-5C47E3F8B08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48641" y="1285081"/>
            <a:ext cx="13518488" cy="1799539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5" name="Picture Placeholder 24">
            <a:extLst>
              <a:ext uri="{FF2B5EF4-FFF2-40B4-BE49-F238E27FC236}">
                <a16:creationId xmlns:a16="http://schemas.microsoft.com/office/drawing/2014/main" id="{CBA6DBC1-39A1-48A6-8B81-3CD966D06E8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37667" y="3724422"/>
            <a:ext cx="13529461" cy="3945565"/>
          </a:xfrm>
          <a:solidFill>
            <a:schemeClr val="accent2"/>
          </a:solidFill>
        </p:spPr>
        <p:txBody>
          <a:bodyPr anchor="t" anchorCtr="0">
            <a:norm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1797656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8.xml"/><Relationship Id="rId1" Type="http://schemas.openxmlformats.org/officeDocument/2006/relationships/tags" Target="../tags/tag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GI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Placeholder 9" descr="Abstract picture of the brain made up of patterns">
            <a:extLst>
              <a:ext uri="{FF2B5EF4-FFF2-40B4-BE49-F238E27FC236}">
                <a16:creationId xmlns:a16="http://schemas.microsoft.com/office/drawing/2014/main" id="{CC4B82FA-2EA0-5319-6B9C-8D78349FCB09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>
            <a:alphaModFix amt="79000"/>
          </a:blip>
          <a:srcRect t="14203" b="14203"/>
          <a:stretch/>
        </p:blipFill>
        <p:spPr>
          <a:xfrm>
            <a:off x="-3655" y="12"/>
            <a:ext cx="14630399" cy="8229588"/>
          </a:xfrm>
          <a:prstGeom prst="rect">
            <a:avLst/>
          </a:prstGeom>
          <a:gradFill>
            <a:gsLst>
              <a:gs pos="0">
                <a:schemeClr val="accent1">
                  <a:lumMod val="72000"/>
                  <a:lumOff val="28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</p:pic>
      <p:sp>
        <p:nvSpPr>
          <p:cNvPr id="8" name="Title 7">
            <a:extLst>
              <a:ext uri="{FF2B5EF4-FFF2-40B4-BE49-F238E27FC236}">
                <a16:creationId xmlns:a16="http://schemas.microsoft.com/office/drawing/2014/main" id="{479F0267-9D1C-BDA9-A152-B01CD379FC9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2160" y="772160"/>
            <a:ext cx="13086071" cy="4505895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109728" tIns="54864" rIns="109728" bIns="54864" rtlCol="0" anchor="b">
            <a:normAutofit/>
          </a:bodyPr>
          <a:lstStyle/>
          <a:p>
            <a:pPr algn="ctr"/>
            <a:r>
              <a:rPr lang="en-US" sz="4450" b="1" dirty="0">
                <a:latin typeface="+mn-lt"/>
              </a:rPr>
              <a:t>Beyond the Black Box: A Story of Trust, Transparency, and Technology in Alzheimer’s Detection</a:t>
            </a:r>
            <a:br>
              <a:rPr lang="en-US" sz="4450" b="1" dirty="0">
                <a:latin typeface="+mn-lt"/>
              </a:rPr>
            </a:br>
            <a:br>
              <a:rPr lang="en-US" sz="4450" b="1" dirty="0">
                <a:latin typeface="+mn-lt"/>
              </a:rPr>
            </a:br>
            <a:r>
              <a:rPr lang="en-US" sz="4450" b="1" dirty="0">
                <a:latin typeface="+mn-lt"/>
              </a:rPr>
              <a:t>Team Guardians of the Galaxy</a:t>
            </a:r>
            <a:br>
              <a:rPr lang="en-US" sz="4450" b="1" dirty="0">
                <a:latin typeface="+mn-lt"/>
              </a:rPr>
            </a:br>
            <a:r>
              <a:rPr lang="en-US" sz="2800" b="1" dirty="0">
                <a:latin typeface="+mn-lt"/>
              </a:rPr>
              <a:t>Under the guidance of Dr. Tim Smith</a:t>
            </a:r>
            <a:endParaRPr lang="en-US" sz="4450" b="1" dirty="0">
              <a:latin typeface="+mn-lt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65A8EC7-9E0C-8516-A4AB-076C7C4FE7EB}"/>
              </a:ext>
            </a:extLst>
          </p:cNvPr>
          <p:cNvSpPr txBox="1"/>
          <p:nvPr/>
        </p:nvSpPr>
        <p:spPr>
          <a:xfrm>
            <a:off x="772159" y="4959762"/>
            <a:ext cx="13082419" cy="174541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109728" tIns="54864" rIns="109728" bIns="54864" rtlCol="0" anchor="t">
            <a:normAutofit/>
          </a:bodyPr>
          <a:lstStyle/>
          <a:p>
            <a:pPr lvl="1" algn="ctr">
              <a:spcBef>
                <a:spcPct val="20000"/>
              </a:spcBef>
              <a:spcAft>
                <a:spcPts val="720"/>
              </a:spcAft>
              <a:buClr>
                <a:schemeClr val="accent1"/>
              </a:buClr>
              <a:buSzPct val="92000"/>
            </a:pPr>
            <a:endParaRPr lang="en-US" sz="2160" b="1" cap="all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C907F0C-490A-4A47-F97A-4A4F80534D7E}"/>
              </a:ext>
            </a:extLst>
          </p:cNvPr>
          <p:cNvSpPr txBox="1"/>
          <p:nvPr/>
        </p:nvSpPr>
        <p:spPr>
          <a:xfrm>
            <a:off x="10625894" y="5552872"/>
            <a:ext cx="3232337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400" b="1" i="0" dirty="0">
                <a:latin typeface="Segoe UI" panose="020B0502040204020203" pitchFamily="34" charset="0"/>
              </a:rPr>
              <a:t>Kathryn Burkhart</a:t>
            </a:r>
          </a:p>
          <a:p>
            <a:pPr>
              <a:lnSpc>
                <a:spcPts val="2400"/>
              </a:lnSpc>
            </a:pPr>
            <a:r>
              <a:rPr lang="en-US" sz="2400" b="1" i="0" dirty="0">
                <a:latin typeface="Segoe UI" panose="020B0502040204020203" pitchFamily="34" charset="0"/>
              </a:rPr>
              <a:t>Prince Praveen</a:t>
            </a:r>
          </a:p>
          <a:p>
            <a:pPr algn="l">
              <a:lnSpc>
                <a:spcPts val="2400"/>
              </a:lnSpc>
            </a:pPr>
            <a:r>
              <a:rPr lang="en-US" sz="2400" b="1" i="0" dirty="0">
                <a:latin typeface="Segoe UI" panose="020B0502040204020203" pitchFamily="34" charset="0"/>
              </a:rPr>
              <a:t>Debjani Sarma</a:t>
            </a:r>
          </a:p>
        </p:txBody>
      </p:sp>
    </p:spTree>
    <p:extLst>
      <p:ext uri="{BB962C8B-B14F-4D97-AF65-F5344CB8AC3E}">
        <p14:creationId xmlns:p14="http://schemas.microsoft.com/office/powerpoint/2010/main" val="10397590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3102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56642" y="442286"/>
            <a:ext cx="7935945" cy="203297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5300"/>
              </a:lnSpc>
              <a:buNone/>
            </a:pPr>
            <a:r>
              <a:rPr lang="en-US" sz="4450" b="1" dirty="0"/>
              <a:t>Reclaiming Time: How AI Could Transform Alzheimer's Detection and Understanding</a:t>
            </a:r>
            <a:endParaRPr lang="en-US" sz="4450" b="1" dirty="0">
              <a:solidFill>
                <a:schemeClr val="tx1"/>
              </a:solidFill>
              <a:sym typeface="+mn-ea"/>
            </a:endParaRPr>
          </a:p>
        </p:txBody>
      </p:sp>
      <p:sp>
        <p:nvSpPr>
          <p:cNvPr id="4" name="Text 1"/>
          <p:cNvSpPr/>
          <p:nvPr/>
        </p:nvSpPr>
        <p:spPr>
          <a:xfrm>
            <a:off x="1071360" y="5268252"/>
            <a:ext cx="7306508" cy="69175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000" b="1" dirty="0">
                <a:solidFill>
                  <a:srgbClr val="2C3249"/>
                </a:solidFill>
                <a:ea typeface="Martel Sans" panose="00000800000000000000" pitchFamily="34" charset="-122"/>
                <a:cs typeface="Martel Sans" panose="00000800000000000000" pitchFamily="34" charset="-120"/>
              </a:rPr>
              <a:t>“What if an AI could help doctors spot the signs of Alzheimer’s—and explain why it sees them?”</a:t>
            </a:r>
            <a:endParaRPr lang="en-US" sz="2000" b="1" dirty="0"/>
          </a:p>
        </p:txBody>
      </p:sp>
      <p:sp>
        <p:nvSpPr>
          <p:cNvPr id="5" name="Shape 2"/>
          <p:cNvSpPr/>
          <p:nvPr/>
        </p:nvSpPr>
        <p:spPr>
          <a:xfrm>
            <a:off x="764262" y="5122006"/>
            <a:ext cx="45719" cy="1037631"/>
          </a:xfrm>
          <a:prstGeom prst="rect">
            <a:avLst/>
          </a:prstGeom>
          <a:solidFill>
            <a:srgbClr val="437066"/>
          </a:solidFill>
        </p:spPr>
      </p:sp>
      <p:sp>
        <p:nvSpPr>
          <p:cNvPr id="6" name="Text 3"/>
          <p:cNvSpPr/>
          <p:nvPr/>
        </p:nvSpPr>
        <p:spPr>
          <a:xfrm>
            <a:off x="764262" y="6436364"/>
            <a:ext cx="7630716" cy="103763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000" b="1" dirty="0">
                <a:solidFill>
                  <a:srgbClr val="2C3249"/>
                </a:solidFill>
                <a:ea typeface="Martel Sans" panose="00000800000000000000" pitchFamily="34" charset="-122"/>
                <a:cs typeface="Martel Sans" panose="00000800000000000000" pitchFamily="34" charset="-120"/>
              </a:rPr>
              <a:t>Alzheimer's is a cruel thief, stealing more than just memories. It erodes identities and dismantles relationships. Families grapple with profound loss. Over 55 million face this disease globally.</a:t>
            </a:r>
            <a:endParaRPr lang="en-US" sz="2000" b="1" dirty="0"/>
          </a:p>
        </p:txBody>
      </p:sp>
      <p:sp>
        <p:nvSpPr>
          <p:cNvPr id="7" name="Text 4"/>
          <p:cNvSpPr/>
          <p:nvPr/>
        </p:nvSpPr>
        <p:spPr>
          <a:xfrm>
            <a:off x="787122" y="2575679"/>
            <a:ext cx="7630716" cy="69175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000" b="1" dirty="0">
                <a:solidFill>
                  <a:srgbClr val="2C3249"/>
                </a:solidFill>
                <a:ea typeface="Martel Sans" panose="00000800000000000000" pitchFamily="34" charset="-122"/>
                <a:cs typeface="Martel Sans" panose="00000800000000000000" pitchFamily="34" charset="-120"/>
              </a:rPr>
              <a:t>In the US, a new Alzheimer diagnosis occurs every 65 seconds. This marks the urgency of our mission.</a:t>
            </a:r>
            <a:endParaRPr lang="en-US" sz="2000" b="1" dirty="0"/>
          </a:p>
        </p:txBody>
      </p:sp>
      <p:sp>
        <p:nvSpPr>
          <p:cNvPr id="8" name="Shape 5"/>
          <p:cNvSpPr/>
          <p:nvPr/>
        </p:nvSpPr>
        <p:spPr>
          <a:xfrm>
            <a:off x="756642" y="7274362"/>
            <a:ext cx="345877" cy="345877"/>
          </a:xfrm>
          <a:prstGeom prst="roundRect">
            <a:avLst>
              <a:gd name="adj" fmla="val 26434500"/>
            </a:avLst>
          </a:prstGeom>
          <a:noFill/>
          <a:ln w="7620">
            <a:solidFill>
              <a:srgbClr val="FFFFFF"/>
            </a:solidFill>
            <a:prstDash val="solid"/>
          </a:ln>
        </p:spPr>
      </p:sp>
      <p:pic>
        <p:nvPicPr>
          <p:cNvPr id="9" name="Picture 8" descr="ChatGPT Image Apr 18, 2025, 11_28_29 AM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11" name="Text 4">
            <a:extLst>
              <a:ext uri="{FF2B5EF4-FFF2-40B4-BE49-F238E27FC236}">
                <a16:creationId xmlns:a16="http://schemas.microsoft.com/office/drawing/2014/main" id="{F1BF083F-4C08-753B-C5A8-005CD1F864F3}"/>
              </a:ext>
            </a:extLst>
          </p:cNvPr>
          <p:cNvSpPr/>
          <p:nvPr/>
        </p:nvSpPr>
        <p:spPr>
          <a:xfrm>
            <a:off x="747152" y="3438639"/>
            <a:ext cx="7630716" cy="154500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000" b="1" dirty="0">
                <a:solidFill>
                  <a:srgbClr val="2C3249"/>
                </a:solidFill>
                <a:cs typeface="Martel Sans" panose="00000800000000000000" pitchFamily="34" charset="-120"/>
              </a:rPr>
              <a:t>Alzheimer’s is a brain disease that slowly destroys memory and thinking skills, making it harder for a person to do everyday tasks. Over time, it can even affect their ability to recognize loved ones or care for themselves.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47491"/>
            <a:ext cx="13042821" cy="84753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altLang="en-US" sz="4450" b="1" dirty="0"/>
              <a:t>The Challenge: Urgency Meets Skepticism</a:t>
            </a:r>
          </a:p>
        </p:txBody>
      </p:sp>
      <p:sp>
        <p:nvSpPr>
          <p:cNvPr id="3" name="Text 1"/>
          <p:cNvSpPr/>
          <p:nvPr/>
        </p:nvSpPr>
        <p:spPr>
          <a:xfrm>
            <a:off x="520861" y="1226326"/>
            <a:ext cx="6517479" cy="664445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285750" indent="-285750" algn="l">
              <a:lnSpc>
                <a:spcPts val="2850"/>
              </a:lnSpc>
              <a:buFont typeface="Arial" panose="020B0604020202020204" pitchFamily="34" charset="0"/>
              <a:buChar char="•"/>
            </a:pPr>
            <a:r>
              <a:rPr lang="en-US" altLang="en-US" dirty="0"/>
              <a:t>AI holds promise for early Alzheimer’s detection</a:t>
            </a:r>
          </a:p>
          <a:p>
            <a:pPr marL="742950" lvl="1" indent="-285750">
              <a:lnSpc>
                <a:spcPts val="2850"/>
              </a:lnSpc>
              <a:buFont typeface="Wingdings" panose="05000000000000000000" pitchFamily="2" charset="2"/>
              <a:buChar char="q"/>
            </a:pPr>
            <a:r>
              <a:rPr lang="en-US" altLang="en-US" dirty="0"/>
              <a:t> Models can achieve high accuracy</a:t>
            </a:r>
          </a:p>
          <a:p>
            <a:pPr marL="742950" lvl="1" indent="-285750">
              <a:lnSpc>
                <a:spcPts val="2850"/>
              </a:lnSpc>
              <a:buFont typeface="Wingdings" panose="05000000000000000000" pitchFamily="2" charset="2"/>
              <a:buChar char="q"/>
            </a:pPr>
            <a:r>
              <a:rPr lang="en-US" altLang="en-US" dirty="0"/>
              <a:t> But most function as black boxes, lacking explainability</a:t>
            </a:r>
          </a:p>
          <a:p>
            <a:pPr marL="285750" indent="-285750" algn="l">
              <a:lnSpc>
                <a:spcPts val="2850"/>
              </a:lnSpc>
              <a:buFont typeface="Arial" panose="020B0604020202020204" pitchFamily="34" charset="0"/>
              <a:buChar char="•"/>
            </a:pPr>
            <a:r>
              <a:rPr lang="en-US" altLang="en-US" dirty="0"/>
              <a:t>Clinicians demand clarity—not just predictions</a:t>
            </a:r>
          </a:p>
          <a:p>
            <a:pPr marL="742950" lvl="1" indent="-285750">
              <a:lnSpc>
                <a:spcPts val="2850"/>
              </a:lnSpc>
              <a:buFont typeface="Wingdings" panose="05000000000000000000" pitchFamily="2" charset="2"/>
              <a:buChar char="q"/>
            </a:pPr>
            <a:r>
              <a:rPr lang="en-US" altLang="en-US" dirty="0"/>
              <a:t> 78% say they won’t trust AI without understandable reasoning</a:t>
            </a:r>
          </a:p>
          <a:p>
            <a:pPr marL="742950" lvl="1" indent="-285750">
              <a:lnSpc>
                <a:spcPts val="2850"/>
              </a:lnSpc>
              <a:buFont typeface="Wingdings" panose="05000000000000000000" pitchFamily="2" charset="2"/>
              <a:buChar char="q"/>
            </a:pPr>
            <a:r>
              <a:rPr lang="en-US" altLang="en-US" dirty="0"/>
              <a:t> Past failures (Watson, Streams, Mount Sinai) show accuracy alone isn’t enough</a:t>
            </a:r>
          </a:p>
          <a:p>
            <a:pPr marL="285750" indent="-285750" algn="l">
              <a:lnSpc>
                <a:spcPts val="2850"/>
              </a:lnSpc>
              <a:buFont typeface="Arial" panose="020B0604020202020204" pitchFamily="34" charset="0"/>
              <a:buChar char="•"/>
            </a:pPr>
            <a:r>
              <a:rPr lang="en-US" altLang="en-US" dirty="0"/>
              <a:t>The real challenge: building trust, not just performance</a:t>
            </a:r>
          </a:p>
          <a:p>
            <a:pPr marL="742950" lvl="1" indent="-285750">
              <a:lnSpc>
                <a:spcPts val="2850"/>
              </a:lnSpc>
              <a:buFont typeface="Wingdings" panose="05000000000000000000" pitchFamily="2" charset="2"/>
              <a:buChar char="q"/>
            </a:pPr>
            <a:r>
              <a:rPr lang="en-US" altLang="en-US" dirty="0"/>
              <a:t> It must become a trusted assistant—one that supports doctors, explains its reasoning, and enhances clinical judgment rather than replacing it.</a:t>
            </a:r>
          </a:p>
          <a:p>
            <a:pPr marL="742950" lvl="1" indent="-285750">
              <a:lnSpc>
                <a:spcPts val="2850"/>
              </a:lnSpc>
              <a:buFont typeface="Wingdings" panose="05000000000000000000" pitchFamily="2" charset="2"/>
              <a:buChar char="q"/>
            </a:pPr>
            <a:r>
              <a:rPr lang="en-US" altLang="en-US" dirty="0"/>
              <a:t> Must explain why it flagged a scan—not just what it predicted</a:t>
            </a:r>
          </a:p>
          <a:p>
            <a:pPr marL="285750" indent="-285750" algn="l">
              <a:lnSpc>
                <a:spcPts val="2850"/>
              </a:lnSpc>
              <a:buFont typeface="Arial" panose="020B0604020202020204" pitchFamily="34" charset="0"/>
              <a:buChar char="•"/>
            </a:pPr>
            <a:r>
              <a:rPr lang="en-US" altLang="en-US" dirty="0"/>
              <a:t>Explainable AI (XAI) is no silver bullet</a:t>
            </a:r>
          </a:p>
          <a:p>
            <a:pPr marL="742950" lvl="1" indent="-285750">
              <a:lnSpc>
                <a:spcPts val="2850"/>
              </a:lnSpc>
              <a:buFont typeface="Wingdings" panose="05000000000000000000" pitchFamily="2" charset="2"/>
              <a:buChar char="q"/>
            </a:pPr>
            <a:r>
              <a:rPr lang="en-US" altLang="en-US" dirty="0"/>
              <a:t> But it’s the first step toward AI as a trusted clinical assistant</a:t>
            </a:r>
          </a:p>
          <a:p>
            <a:pPr marL="742950" lvl="1" indent="-285750">
              <a:lnSpc>
                <a:spcPts val="2850"/>
              </a:lnSpc>
              <a:buFont typeface="Wingdings" panose="05000000000000000000" pitchFamily="2" charset="2"/>
              <a:buChar char="q"/>
            </a:pPr>
            <a:r>
              <a:rPr lang="en-US" altLang="en-US" dirty="0"/>
              <a:t> A partner that enhances, not overrides, clinical judgment</a:t>
            </a:r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1237615"/>
            <a:ext cx="6954520" cy="646811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3305" y="718685"/>
            <a:ext cx="8507135" cy="64591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5050"/>
              </a:lnSpc>
              <a:buNone/>
            </a:pPr>
            <a:r>
              <a:rPr lang="en-US" sz="4450" b="1" dirty="0">
                <a:solidFill>
                  <a:srgbClr val="272D45"/>
                </a:solidFill>
                <a:ea typeface="Kanit Light" pitchFamily="34" charset="-122"/>
                <a:cs typeface="Kanit Light" pitchFamily="34" charset="-120"/>
              </a:rPr>
              <a:t>A Rich but Untamed Dataset: OASIS-3</a:t>
            </a:r>
            <a:endParaRPr lang="en-US" sz="4450" b="1" dirty="0"/>
          </a:p>
        </p:txBody>
      </p:sp>
      <p:sp>
        <p:nvSpPr>
          <p:cNvPr id="3" name="Text 1"/>
          <p:cNvSpPr/>
          <p:nvPr/>
        </p:nvSpPr>
        <p:spPr>
          <a:xfrm>
            <a:off x="723305" y="1913215"/>
            <a:ext cx="13183791" cy="66127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00" dirty="0">
                <a:solidFill>
                  <a:srgbClr val="2C3249"/>
                </a:solidFill>
                <a:ea typeface="Martel Sans" panose="00000800000000000000" pitchFamily="34" charset="-122"/>
                <a:cs typeface="Martel Sans" panose="00000800000000000000" pitchFamily="34" charset="-120"/>
              </a:rPr>
              <a:t>OASIS-3 stands as one of the most clinically detailed public resources for Alzheimer's research. It contains over 2,000 MRI sessions from more than 1,000 subjects with various diagnoses.</a:t>
            </a:r>
            <a:endParaRPr lang="en-US" sz="20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31557" y="2806898"/>
            <a:ext cx="2175272" cy="1190625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73818" y="3368040"/>
            <a:ext cx="290632" cy="36326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313402" y="3013472"/>
            <a:ext cx="2583418" cy="32289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2C3249"/>
                </a:solidFill>
                <a:ea typeface="Kanit Light" pitchFamily="34" charset="-122"/>
                <a:cs typeface="Kanit Light" pitchFamily="34" charset="-120"/>
              </a:rPr>
              <a:t>Longitudinal</a:t>
            </a:r>
            <a:endParaRPr lang="en-US" sz="2000" b="1" dirty="0"/>
          </a:p>
        </p:txBody>
      </p:sp>
      <p:sp>
        <p:nvSpPr>
          <p:cNvPr id="7" name="Text 3"/>
          <p:cNvSpPr/>
          <p:nvPr/>
        </p:nvSpPr>
        <p:spPr>
          <a:xfrm>
            <a:off x="5313402" y="3460313"/>
            <a:ext cx="5672971" cy="33063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00" dirty="0">
                <a:solidFill>
                  <a:srgbClr val="2C3249"/>
                </a:solidFill>
                <a:ea typeface="Martel Sans" panose="00000800000000000000" pitchFamily="34" charset="-122"/>
                <a:cs typeface="Martel Sans" panose="00000800000000000000" pitchFamily="34" charset="-120"/>
              </a:rPr>
              <a:t>Tracks patients over time with multiple scans per subject.</a:t>
            </a:r>
            <a:endParaRPr lang="en-US" sz="2000" dirty="0"/>
          </a:p>
        </p:txBody>
      </p:sp>
      <p:sp>
        <p:nvSpPr>
          <p:cNvPr id="8" name="Shape 4"/>
          <p:cNvSpPr/>
          <p:nvPr/>
        </p:nvSpPr>
        <p:spPr>
          <a:xfrm>
            <a:off x="5158383" y="4013716"/>
            <a:ext cx="8697158" cy="11430"/>
          </a:xfrm>
          <a:prstGeom prst="roundRect">
            <a:avLst>
              <a:gd name="adj" fmla="val 759460"/>
            </a:avLst>
          </a:prstGeom>
          <a:solidFill>
            <a:srgbClr val="C5D2CF"/>
          </a:solidFill>
        </p:spPr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43921" y="4049078"/>
            <a:ext cx="4350544" cy="1190625"/>
          </a:xfrm>
          <a:prstGeom prst="rect">
            <a:avLst/>
          </a:prstGeom>
        </p:spPr>
      </p:pic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73818" y="4462701"/>
            <a:ext cx="290632" cy="36326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401038" y="4255651"/>
            <a:ext cx="2583418" cy="32289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2C3249"/>
                </a:solidFill>
                <a:ea typeface="Kanit Light" pitchFamily="34" charset="-122"/>
                <a:cs typeface="Kanit Light" pitchFamily="34" charset="-120"/>
              </a:rPr>
              <a:t>Diverse</a:t>
            </a:r>
            <a:endParaRPr lang="en-US" sz="2000" b="1" dirty="0"/>
          </a:p>
        </p:txBody>
      </p:sp>
      <p:sp>
        <p:nvSpPr>
          <p:cNvPr id="12" name="Text 6"/>
          <p:cNvSpPr/>
          <p:nvPr/>
        </p:nvSpPr>
        <p:spPr>
          <a:xfrm>
            <a:off x="6401038" y="4702493"/>
            <a:ext cx="4907875" cy="33063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00" dirty="0">
                <a:solidFill>
                  <a:srgbClr val="2C3249"/>
                </a:solidFill>
                <a:ea typeface="Martel Sans" panose="00000800000000000000" pitchFamily="34" charset="-122"/>
                <a:cs typeface="Martel Sans" panose="00000800000000000000" pitchFamily="34" charset="-120"/>
              </a:rPr>
              <a:t>Includes broader population than earlier datasets.</a:t>
            </a:r>
            <a:endParaRPr lang="en-US" sz="2000" dirty="0"/>
          </a:p>
        </p:txBody>
      </p:sp>
      <p:sp>
        <p:nvSpPr>
          <p:cNvPr id="13" name="Shape 7"/>
          <p:cNvSpPr/>
          <p:nvPr/>
        </p:nvSpPr>
        <p:spPr>
          <a:xfrm>
            <a:off x="6246019" y="5255895"/>
            <a:ext cx="7609523" cy="11430"/>
          </a:xfrm>
          <a:prstGeom prst="roundRect">
            <a:avLst>
              <a:gd name="adj" fmla="val 759460"/>
            </a:avLst>
          </a:prstGeom>
          <a:solidFill>
            <a:srgbClr val="C5D2CF"/>
          </a:solidFill>
        </p:spPr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6166" y="5291257"/>
            <a:ext cx="6525935" cy="1190625"/>
          </a:xfrm>
          <a:prstGeom prst="rect">
            <a:avLst/>
          </a:prstGeom>
        </p:spPr>
      </p:pic>
      <p:pic>
        <p:nvPicPr>
          <p:cNvPr id="15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73698" y="5704880"/>
            <a:ext cx="290632" cy="363260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7488674" y="5497830"/>
            <a:ext cx="2583418" cy="32289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2C3249"/>
                </a:solidFill>
                <a:ea typeface="Kanit Light" pitchFamily="34" charset="-122"/>
                <a:cs typeface="Kanit Light" pitchFamily="34" charset="-120"/>
              </a:rPr>
              <a:t>Realistic</a:t>
            </a:r>
            <a:endParaRPr lang="en-US" sz="2000" b="1" dirty="0"/>
          </a:p>
        </p:txBody>
      </p:sp>
      <p:sp>
        <p:nvSpPr>
          <p:cNvPr id="17" name="Text 9"/>
          <p:cNvSpPr/>
          <p:nvPr/>
        </p:nvSpPr>
        <p:spPr>
          <a:xfrm>
            <a:off x="7488674" y="5944672"/>
            <a:ext cx="6188631" cy="33063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00" dirty="0">
                <a:solidFill>
                  <a:srgbClr val="2C3249"/>
                </a:solidFill>
                <a:ea typeface="Martel Sans" panose="00000800000000000000" pitchFamily="34" charset="-122"/>
                <a:cs typeface="Martel Sans" panose="00000800000000000000" pitchFamily="34" charset="-120"/>
              </a:rPr>
              <a:t>Mirrors actual clinical complexity, not simplified research data.</a:t>
            </a:r>
            <a:endParaRPr lang="en-US" sz="2000" dirty="0"/>
          </a:p>
        </p:txBody>
      </p:sp>
      <p:sp>
        <p:nvSpPr>
          <p:cNvPr id="18" name="Text 10"/>
          <p:cNvSpPr/>
          <p:nvPr/>
        </p:nvSpPr>
        <p:spPr>
          <a:xfrm>
            <a:off x="723305" y="6714292"/>
            <a:ext cx="13183791" cy="66127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00" dirty="0">
                <a:solidFill>
                  <a:srgbClr val="2C3249"/>
                </a:solidFill>
                <a:ea typeface="Martel Sans" panose="00000800000000000000" pitchFamily="34" charset="-122"/>
                <a:cs typeface="Martel Sans" panose="00000800000000000000" pitchFamily="34" charset="-120"/>
              </a:rPr>
              <a:t>The challenge: raw scans aren't directly linked to diagnoses. We developed a careful curation pipeline to extract a clean, single-scan-per-subject dataset.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4968" y="704374"/>
            <a:ext cx="9162574" cy="62055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4450" b="1" dirty="0">
                <a:solidFill>
                  <a:srgbClr val="272D45"/>
                </a:solidFill>
                <a:ea typeface="Kanit Light" pitchFamily="34" charset="-122"/>
                <a:cs typeface="Kanit Light" pitchFamily="34" charset="-120"/>
              </a:rPr>
              <a:t>From Raw Scans to Model-Ready Volumes</a:t>
            </a:r>
            <a:endParaRPr lang="en-US" sz="4450" b="1" dirty="0"/>
          </a:p>
        </p:txBody>
      </p:sp>
      <p:sp>
        <p:nvSpPr>
          <p:cNvPr id="3" name="Shape 1"/>
          <p:cNvSpPr/>
          <p:nvPr/>
        </p:nvSpPr>
        <p:spPr>
          <a:xfrm>
            <a:off x="7303770" y="1722001"/>
            <a:ext cx="22860" cy="5262086"/>
          </a:xfrm>
          <a:prstGeom prst="roundRect">
            <a:avLst>
              <a:gd name="adj" fmla="val 364853"/>
            </a:avLst>
          </a:prstGeom>
          <a:solidFill>
            <a:srgbClr val="C5D2CF"/>
          </a:solidFill>
        </p:spPr>
      </p:sp>
      <p:sp>
        <p:nvSpPr>
          <p:cNvPr id="4" name="Shape 2"/>
          <p:cNvSpPr/>
          <p:nvPr/>
        </p:nvSpPr>
        <p:spPr>
          <a:xfrm>
            <a:off x="6519029" y="2157293"/>
            <a:ext cx="595670" cy="22860"/>
          </a:xfrm>
          <a:prstGeom prst="roundRect">
            <a:avLst>
              <a:gd name="adj" fmla="val 364853"/>
            </a:avLst>
          </a:prstGeom>
          <a:solidFill>
            <a:srgbClr val="C5D2CF"/>
          </a:solidFill>
        </p:spPr>
      </p:sp>
      <p:sp>
        <p:nvSpPr>
          <p:cNvPr id="5" name="Shape 3"/>
          <p:cNvSpPr/>
          <p:nvPr/>
        </p:nvSpPr>
        <p:spPr>
          <a:xfrm>
            <a:off x="7091839" y="1945362"/>
            <a:ext cx="446723" cy="446723"/>
          </a:xfrm>
          <a:prstGeom prst="roundRect">
            <a:avLst>
              <a:gd name="adj" fmla="val 18670"/>
            </a:avLst>
          </a:prstGeom>
          <a:solidFill>
            <a:srgbClr val="DFECE9"/>
          </a:solidFill>
          <a:ln w="7620">
            <a:solidFill>
              <a:srgbClr val="C5D2CF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66312" y="1982569"/>
            <a:ext cx="297775" cy="3723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431619" y="1920478"/>
            <a:ext cx="2890718" cy="31027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r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2C3249"/>
                </a:solidFill>
                <a:ea typeface="Kanit Light" pitchFamily="34" charset="-122"/>
                <a:cs typeface="Kanit Light" pitchFamily="34" charset="-120"/>
              </a:rPr>
              <a:t>T1-Weighted MRI Selection</a:t>
            </a:r>
            <a:endParaRPr lang="en-US" sz="2000" b="1" dirty="0"/>
          </a:p>
        </p:txBody>
      </p:sp>
      <p:sp>
        <p:nvSpPr>
          <p:cNvPr id="8" name="Text 5"/>
          <p:cNvSpPr/>
          <p:nvPr/>
        </p:nvSpPr>
        <p:spPr>
          <a:xfrm>
            <a:off x="694968" y="2349818"/>
            <a:ext cx="5627370" cy="63531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r">
              <a:lnSpc>
                <a:spcPts val="2500"/>
              </a:lnSpc>
              <a:buNone/>
            </a:pPr>
            <a:r>
              <a:rPr lang="en-US" sz="2000" dirty="0">
                <a:solidFill>
                  <a:srgbClr val="2C3249"/>
                </a:solidFill>
                <a:ea typeface="Martel Sans" panose="00000800000000000000" pitchFamily="34" charset="-122"/>
                <a:cs typeface="Martel Sans" panose="00000800000000000000" pitchFamily="34" charset="-120"/>
              </a:rPr>
              <a:t>We focused exclusively on T1-weighted structural brain scans from OASIS-3 dataset.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7515701" y="3150037"/>
            <a:ext cx="595670" cy="22860"/>
          </a:xfrm>
          <a:prstGeom prst="roundRect">
            <a:avLst>
              <a:gd name="adj" fmla="val 364853"/>
            </a:avLst>
          </a:prstGeom>
          <a:solidFill>
            <a:srgbClr val="C5D2CF"/>
          </a:solidFill>
        </p:spPr>
      </p:sp>
      <p:sp>
        <p:nvSpPr>
          <p:cNvPr id="10" name="Shape 7"/>
          <p:cNvSpPr/>
          <p:nvPr/>
        </p:nvSpPr>
        <p:spPr>
          <a:xfrm>
            <a:off x="7091839" y="2938105"/>
            <a:ext cx="446723" cy="446723"/>
          </a:xfrm>
          <a:prstGeom prst="roundRect">
            <a:avLst>
              <a:gd name="adj" fmla="val 18670"/>
            </a:avLst>
          </a:prstGeom>
          <a:solidFill>
            <a:srgbClr val="DFECE9"/>
          </a:solidFill>
          <a:ln w="7620">
            <a:solidFill>
              <a:srgbClr val="C5D2CF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66312" y="2975312"/>
            <a:ext cx="297775" cy="3723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8308062" y="2913221"/>
            <a:ext cx="2482215" cy="31027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2C3249"/>
                </a:solidFill>
                <a:ea typeface="Kanit Light" pitchFamily="34" charset="-122"/>
                <a:cs typeface="Kanit Light" pitchFamily="34" charset="-120"/>
              </a:rPr>
              <a:t>Standardized Resizing</a:t>
            </a:r>
            <a:endParaRPr lang="en-US" sz="2000" b="1" dirty="0"/>
          </a:p>
        </p:txBody>
      </p:sp>
      <p:sp>
        <p:nvSpPr>
          <p:cNvPr id="13" name="Text 9"/>
          <p:cNvSpPr/>
          <p:nvPr/>
        </p:nvSpPr>
        <p:spPr>
          <a:xfrm>
            <a:off x="8308062" y="3342561"/>
            <a:ext cx="5627370" cy="63531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2C3249"/>
                </a:solidFill>
                <a:ea typeface="Martel Sans" panose="00000800000000000000" pitchFamily="34" charset="-122"/>
                <a:cs typeface="Martel Sans" panose="00000800000000000000" pitchFamily="34" charset="-120"/>
              </a:rPr>
              <a:t>All volumes were uniformly resized to 128×128×128 dimensions for consistent processing.</a:t>
            </a:r>
            <a:endParaRPr lang="en-US" sz="2000" dirty="0"/>
          </a:p>
        </p:txBody>
      </p:sp>
      <p:sp>
        <p:nvSpPr>
          <p:cNvPr id="14" name="Shape 10"/>
          <p:cNvSpPr/>
          <p:nvPr/>
        </p:nvSpPr>
        <p:spPr>
          <a:xfrm>
            <a:off x="6519029" y="4043601"/>
            <a:ext cx="595670" cy="22860"/>
          </a:xfrm>
          <a:prstGeom prst="roundRect">
            <a:avLst>
              <a:gd name="adj" fmla="val 364853"/>
            </a:avLst>
          </a:prstGeom>
          <a:solidFill>
            <a:srgbClr val="C5D2CF"/>
          </a:solidFill>
        </p:spPr>
      </p:sp>
      <p:sp>
        <p:nvSpPr>
          <p:cNvPr id="15" name="Shape 11"/>
          <p:cNvSpPr/>
          <p:nvPr/>
        </p:nvSpPr>
        <p:spPr>
          <a:xfrm>
            <a:off x="7091839" y="3831669"/>
            <a:ext cx="446723" cy="446723"/>
          </a:xfrm>
          <a:prstGeom prst="roundRect">
            <a:avLst>
              <a:gd name="adj" fmla="val 18670"/>
            </a:avLst>
          </a:prstGeom>
          <a:solidFill>
            <a:srgbClr val="DFECE9"/>
          </a:solidFill>
          <a:ln w="7620">
            <a:solidFill>
              <a:srgbClr val="C5D2CF"/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66312" y="3868876"/>
            <a:ext cx="297775" cy="3723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3840123" y="3806785"/>
            <a:ext cx="2482215" cy="31027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r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2C3249"/>
                </a:solidFill>
                <a:ea typeface="Kanit Light" pitchFamily="34" charset="-122"/>
                <a:cs typeface="Kanit Light" pitchFamily="34" charset="-120"/>
              </a:rPr>
              <a:t>Z-Score Normalization</a:t>
            </a:r>
            <a:endParaRPr lang="en-US" sz="2000" b="1" dirty="0"/>
          </a:p>
        </p:txBody>
      </p:sp>
      <p:sp>
        <p:nvSpPr>
          <p:cNvPr id="18" name="Text 13"/>
          <p:cNvSpPr/>
          <p:nvPr/>
        </p:nvSpPr>
        <p:spPr>
          <a:xfrm>
            <a:off x="694968" y="4236125"/>
            <a:ext cx="5627370" cy="63531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r">
              <a:lnSpc>
                <a:spcPts val="2500"/>
              </a:lnSpc>
              <a:buNone/>
            </a:pPr>
            <a:r>
              <a:rPr lang="en-US" sz="2000" dirty="0">
                <a:solidFill>
                  <a:srgbClr val="2C3249"/>
                </a:solidFill>
                <a:ea typeface="Martel Sans" panose="00000800000000000000" pitchFamily="34" charset="-122"/>
                <a:cs typeface="Martel Sans" panose="00000800000000000000" pitchFamily="34" charset="-120"/>
              </a:rPr>
              <a:t>Normalized intensity values ensure scanner-independent analysis across patients.</a:t>
            </a:r>
            <a:endParaRPr lang="en-US" sz="2000" dirty="0"/>
          </a:p>
        </p:txBody>
      </p:sp>
      <p:sp>
        <p:nvSpPr>
          <p:cNvPr id="19" name="Shape 14"/>
          <p:cNvSpPr/>
          <p:nvPr/>
        </p:nvSpPr>
        <p:spPr>
          <a:xfrm>
            <a:off x="7515701" y="4937165"/>
            <a:ext cx="595670" cy="22860"/>
          </a:xfrm>
          <a:prstGeom prst="roundRect">
            <a:avLst>
              <a:gd name="adj" fmla="val 364853"/>
            </a:avLst>
          </a:prstGeom>
          <a:solidFill>
            <a:srgbClr val="C5D2CF"/>
          </a:solidFill>
        </p:spPr>
      </p:sp>
      <p:sp>
        <p:nvSpPr>
          <p:cNvPr id="20" name="Shape 15"/>
          <p:cNvSpPr/>
          <p:nvPr/>
        </p:nvSpPr>
        <p:spPr>
          <a:xfrm>
            <a:off x="7091839" y="4725233"/>
            <a:ext cx="446723" cy="446723"/>
          </a:xfrm>
          <a:prstGeom prst="roundRect">
            <a:avLst>
              <a:gd name="adj" fmla="val 18670"/>
            </a:avLst>
          </a:prstGeom>
          <a:solidFill>
            <a:srgbClr val="DFECE9"/>
          </a:solidFill>
          <a:ln w="7620">
            <a:solidFill>
              <a:srgbClr val="C5D2CF"/>
            </a:solidFill>
            <a:prstDash val="solid"/>
          </a:ln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66312" y="4762440"/>
            <a:ext cx="297775" cy="37230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308062" y="4700349"/>
            <a:ext cx="2482215" cy="31027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2C3249"/>
                </a:solidFill>
                <a:ea typeface="Kanit Light" pitchFamily="34" charset="-122"/>
                <a:cs typeface="Kanit Light" pitchFamily="34" charset="-120"/>
              </a:rPr>
              <a:t>Data Augmentation</a:t>
            </a:r>
            <a:endParaRPr lang="en-US" sz="2000" b="1" dirty="0"/>
          </a:p>
        </p:txBody>
      </p:sp>
      <p:sp>
        <p:nvSpPr>
          <p:cNvPr id="23" name="Text 17"/>
          <p:cNvSpPr/>
          <p:nvPr/>
        </p:nvSpPr>
        <p:spPr>
          <a:xfrm>
            <a:off x="8308062" y="5129689"/>
            <a:ext cx="5627370" cy="63531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2C3249"/>
                </a:solidFill>
                <a:ea typeface="Martel Sans" panose="00000800000000000000" pitchFamily="34" charset="-122"/>
                <a:cs typeface="Martel Sans" panose="00000800000000000000" pitchFamily="34" charset="-120"/>
              </a:rPr>
              <a:t>Applied random flips, Gaussian noise, and brightness adjustments during training.</a:t>
            </a:r>
            <a:endParaRPr lang="en-US" sz="2000" dirty="0"/>
          </a:p>
        </p:txBody>
      </p:sp>
      <p:sp>
        <p:nvSpPr>
          <p:cNvPr id="24" name="Shape 18"/>
          <p:cNvSpPr/>
          <p:nvPr/>
        </p:nvSpPr>
        <p:spPr>
          <a:xfrm>
            <a:off x="6519029" y="5830729"/>
            <a:ext cx="595670" cy="22860"/>
          </a:xfrm>
          <a:prstGeom prst="roundRect">
            <a:avLst>
              <a:gd name="adj" fmla="val 364853"/>
            </a:avLst>
          </a:prstGeom>
          <a:solidFill>
            <a:srgbClr val="C5D2CF"/>
          </a:solidFill>
        </p:spPr>
      </p:sp>
      <p:sp>
        <p:nvSpPr>
          <p:cNvPr id="25" name="Shape 19"/>
          <p:cNvSpPr/>
          <p:nvPr/>
        </p:nvSpPr>
        <p:spPr>
          <a:xfrm>
            <a:off x="7091839" y="5618798"/>
            <a:ext cx="446723" cy="446723"/>
          </a:xfrm>
          <a:prstGeom prst="roundRect">
            <a:avLst>
              <a:gd name="adj" fmla="val 18670"/>
            </a:avLst>
          </a:prstGeom>
          <a:solidFill>
            <a:srgbClr val="DFECE9"/>
          </a:solidFill>
          <a:ln w="7620">
            <a:solidFill>
              <a:srgbClr val="C5D2CF"/>
            </a:solidFill>
            <a:prstDash val="solid"/>
          </a:ln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66312" y="5656005"/>
            <a:ext cx="297775" cy="37230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3840123" y="5593913"/>
            <a:ext cx="2482215" cy="31027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r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2C3249"/>
                </a:solidFill>
                <a:ea typeface="Kanit Light" pitchFamily="34" charset="-122"/>
                <a:cs typeface="Kanit Light" pitchFamily="34" charset="-120"/>
              </a:rPr>
              <a:t>Tensor Conversion</a:t>
            </a:r>
            <a:endParaRPr lang="en-US" sz="2000" b="1" dirty="0"/>
          </a:p>
        </p:txBody>
      </p:sp>
      <p:sp>
        <p:nvSpPr>
          <p:cNvPr id="28" name="Text 21"/>
          <p:cNvSpPr/>
          <p:nvPr/>
        </p:nvSpPr>
        <p:spPr>
          <a:xfrm>
            <a:off x="694968" y="6023253"/>
            <a:ext cx="5627370" cy="63531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r">
              <a:lnSpc>
                <a:spcPts val="2500"/>
              </a:lnSpc>
              <a:buNone/>
            </a:pPr>
            <a:r>
              <a:rPr lang="en-US" sz="2000" dirty="0">
                <a:solidFill>
                  <a:srgbClr val="2C3249"/>
                </a:solidFill>
                <a:ea typeface="Martel Sans" panose="00000800000000000000" pitchFamily="34" charset="-122"/>
                <a:cs typeface="Martel Sans" panose="00000800000000000000" pitchFamily="34" charset="-120"/>
              </a:rPr>
              <a:t>Transformed volumes into tensor format ready for 3D CNN input.</a:t>
            </a:r>
            <a:endParaRPr lang="en-US" sz="2000" dirty="0"/>
          </a:p>
        </p:txBody>
      </p:sp>
      <p:sp>
        <p:nvSpPr>
          <p:cNvPr id="29" name="Text 22"/>
          <p:cNvSpPr/>
          <p:nvPr/>
        </p:nvSpPr>
        <p:spPr>
          <a:xfrm>
            <a:off x="694968" y="7207448"/>
            <a:ext cx="13240464" cy="63531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2C3249"/>
                </a:solidFill>
                <a:ea typeface="Martel Sans" panose="00000800000000000000" pitchFamily="34" charset="-122"/>
                <a:cs typeface="Martel Sans" panose="00000800000000000000" pitchFamily="34" charset="-120"/>
              </a:rPr>
              <a:t>These augmentations mimic real-world variability between scans and patients, helping our model develop more robust feature </a:t>
            </a:r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2C3249"/>
                </a:solidFill>
                <a:ea typeface="Martel Sans" panose="00000800000000000000" pitchFamily="34" charset="-122"/>
                <a:cs typeface="Martel Sans" panose="00000800000000000000" pitchFamily="34" charset="-120"/>
              </a:rPr>
              <a:t>recognition.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3300" y="642818"/>
            <a:ext cx="8587026" cy="61019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4800"/>
              </a:lnSpc>
              <a:buNone/>
            </a:pPr>
            <a:r>
              <a:rPr lang="en-US" sz="4450" b="1" dirty="0">
                <a:solidFill>
                  <a:srgbClr val="272D45"/>
                </a:solidFill>
                <a:ea typeface="Kanit Light" pitchFamily="34" charset="-122"/>
                <a:cs typeface="Kanit Light" pitchFamily="34" charset="-120"/>
              </a:rPr>
              <a:t>Class Imbalance and Stratified Sampling</a:t>
            </a:r>
            <a:endParaRPr lang="en-US" sz="4450" b="1" dirty="0"/>
          </a:p>
        </p:txBody>
      </p:sp>
      <p:sp>
        <p:nvSpPr>
          <p:cNvPr id="3" name="Text 1"/>
          <p:cNvSpPr/>
          <p:nvPr/>
        </p:nvSpPr>
        <p:spPr>
          <a:xfrm>
            <a:off x="683300" y="1643420"/>
            <a:ext cx="13263801" cy="31242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2000" dirty="0">
                <a:solidFill>
                  <a:srgbClr val="2C3249"/>
                </a:solidFill>
                <a:ea typeface="Martel Sans" panose="00000800000000000000" pitchFamily="34" charset="-122"/>
                <a:cs typeface="Martel Sans" panose="00000800000000000000" pitchFamily="34" charset="-120"/>
              </a:rPr>
              <a:t>After careful curation, our dataset revealed a significant class imbalance across diagnostic categories.</a:t>
            </a:r>
            <a:endParaRPr lang="en-US" sz="20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04887" y="2175391"/>
            <a:ext cx="2188488" cy="1124783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61792" y="2705576"/>
            <a:ext cx="274558" cy="34313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288518" y="2370534"/>
            <a:ext cx="2440662" cy="30503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2C3249"/>
                </a:solidFill>
                <a:ea typeface="Kanit Light" pitchFamily="34" charset="-122"/>
                <a:cs typeface="Kanit Light" pitchFamily="34" charset="-120"/>
              </a:rPr>
              <a:t>Risk</a:t>
            </a:r>
            <a:endParaRPr lang="en-US" sz="2000" b="1" dirty="0"/>
          </a:p>
        </p:txBody>
      </p:sp>
      <p:sp>
        <p:nvSpPr>
          <p:cNvPr id="7" name="Text 3"/>
          <p:cNvSpPr/>
          <p:nvPr/>
        </p:nvSpPr>
        <p:spPr>
          <a:xfrm>
            <a:off x="5288518" y="2792611"/>
            <a:ext cx="5309354" cy="31242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2000" dirty="0">
                <a:solidFill>
                  <a:srgbClr val="2C3249"/>
                </a:solidFill>
                <a:ea typeface="Martel Sans" panose="00000800000000000000" pitchFamily="34" charset="-122"/>
                <a:cs typeface="Martel Sans" panose="00000800000000000000" pitchFamily="34" charset="-120"/>
              </a:rPr>
              <a:t>Models overfit to majority class, missing critical AD cases</a:t>
            </a:r>
            <a:endParaRPr lang="en-US" sz="2000" dirty="0"/>
          </a:p>
        </p:txBody>
      </p:sp>
      <p:sp>
        <p:nvSpPr>
          <p:cNvPr id="8" name="Shape 4"/>
          <p:cNvSpPr/>
          <p:nvPr/>
        </p:nvSpPr>
        <p:spPr>
          <a:xfrm>
            <a:off x="5142071" y="3314938"/>
            <a:ext cx="8756333" cy="11430"/>
          </a:xfrm>
          <a:prstGeom prst="roundRect">
            <a:avLst>
              <a:gd name="adj" fmla="val 717472"/>
            </a:avLst>
          </a:prstGeom>
          <a:solidFill>
            <a:srgbClr val="C5D2CF"/>
          </a:solidFill>
        </p:spPr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10703" y="3348871"/>
            <a:ext cx="4376976" cy="1124783"/>
          </a:xfrm>
          <a:prstGeom prst="rect">
            <a:avLst/>
          </a:prstGeom>
        </p:spPr>
      </p:pic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61911" y="3739634"/>
            <a:ext cx="274558" cy="343138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382822" y="3544014"/>
            <a:ext cx="2440662" cy="30503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2C3249"/>
                </a:solidFill>
                <a:ea typeface="Kanit Light" pitchFamily="34" charset="-122"/>
                <a:cs typeface="Kanit Light" pitchFamily="34" charset="-120"/>
              </a:rPr>
              <a:t>Strategy</a:t>
            </a:r>
            <a:endParaRPr lang="en-US" sz="2000" b="1" dirty="0"/>
          </a:p>
        </p:txBody>
      </p:sp>
      <p:sp>
        <p:nvSpPr>
          <p:cNvPr id="12" name="Text 6"/>
          <p:cNvSpPr/>
          <p:nvPr/>
        </p:nvSpPr>
        <p:spPr>
          <a:xfrm>
            <a:off x="6382822" y="3966091"/>
            <a:ext cx="5403175" cy="31242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2000" dirty="0">
                <a:solidFill>
                  <a:srgbClr val="2C3249"/>
                </a:solidFill>
                <a:ea typeface="Martel Sans" panose="00000800000000000000" pitchFamily="34" charset="-122"/>
                <a:cs typeface="Martel Sans" panose="00000800000000000000" pitchFamily="34" charset="-120"/>
              </a:rPr>
              <a:t>Stratified 80/20 train-test splits preserve class proportions</a:t>
            </a:r>
            <a:endParaRPr lang="en-US" sz="2000" dirty="0"/>
          </a:p>
        </p:txBody>
      </p:sp>
      <p:sp>
        <p:nvSpPr>
          <p:cNvPr id="13" name="Shape 7"/>
          <p:cNvSpPr/>
          <p:nvPr/>
        </p:nvSpPr>
        <p:spPr>
          <a:xfrm>
            <a:off x="6236375" y="4488418"/>
            <a:ext cx="7662029" cy="11430"/>
          </a:xfrm>
          <a:prstGeom prst="roundRect">
            <a:avLst>
              <a:gd name="adj" fmla="val 717472"/>
            </a:avLst>
          </a:prstGeom>
          <a:solidFill>
            <a:srgbClr val="C5D2CF"/>
          </a:solidFill>
        </p:spPr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6399" y="4522351"/>
            <a:ext cx="6565463" cy="1124783"/>
          </a:xfrm>
          <a:prstGeom prst="rect">
            <a:avLst/>
          </a:prstGeom>
        </p:spPr>
      </p:pic>
      <p:pic>
        <p:nvPicPr>
          <p:cNvPr id="15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61792" y="4913114"/>
            <a:ext cx="274558" cy="343138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7477006" y="4717494"/>
            <a:ext cx="2440662" cy="30503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2C3249"/>
                </a:solidFill>
                <a:ea typeface="Kanit Light" pitchFamily="34" charset="-122"/>
                <a:cs typeface="Kanit Light" pitchFamily="34" charset="-120"/>
              </a:rPr>
              <a:t>Solution</a:t>
            </a:r>
            <a:endParaRPr lang="en-US" sz="2000" b="1" dirty="0"/>
          </a:p>
        </p:txBody>
      </p:sp>
      <p:sp>
        <p:nvSpPr>
          <p:cNvPr id="17" name="Text 9"/>
          <p:cNvSpPr/>
          <p:nvPr/>
        </p:nvSpPr>
        <p:spPr>
          <a:xfrm>
            <a:off x="7477006" y="5139571"/>
            <a:ext cx="6125647" cy="31242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2000" dirty="0">
                <a:solidFill>
                  <a:srgbClr val="2C3249"/>
                </a:solidFill>
                <a:ea typeface="Martel Sans" panose="00000800000000000000" pitchFamily="34" charset="-122"/>
                <a:cs typeface="Martel Sans" panose="00000800000000000000" pitchFamily="34" charset="-120"/>
              </a:rPr>
              <a:t>Class-weighted loss function penalizes minority misclassifications</a:t>
            </a:r>
            <a:endParaRPr lang="en-US" sz="2000" dirty="0"/>
          </a:p>
        </p:txBody>
      </p:sp>
      <p:sp>
        <p:nvSpPr>
          <p:cNvPr id="18" name="Text 10"/>
          <p:cNvSpPr/>
          <p:nvPr/>
        </p:nvSpPr>
        <p:spPr>
          <a:xfrm>
            <a:off x="683300" y="5964198"/>
            <a:ext cx="4226004" cy="64424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5050"/>
              </a:lnSpc>
              <a:buNone/>
            </a:pPr>
            <a:r>
              <a:rPr lang="en-US" sz="5050" b="1" dirty="0">
                <a:solidFill>
                  <a:srgbClr val="2C3249"/>
                </a:solidFill>
                <a:ea typeface="Kanit Light" pitchFamily="34" charset="-122"/>
                <a:cs typeface="Kanit Light" pitchFamily="34" charset="-120"/>
              </a:rPr>
              <a:t>829</a:t>
            </a:r>
            <a:endParaRPr lang="en-US" sz="5050" b="1" dirty="0"/>
          </a:p>
        </p:txBody>
      </p:sp>
      <p:sp>
        <p:nvSpPr>
          <p:cNvPr id="19" name="Text 11"/>
          <p:cNvSpPr/>
          <p:nvPr/>
        </p:nvSpPr>
        <p:spPr>
          <a:xfrm>
            <a:off x="1575911" y="6852285"/>
            <a:ext cx="2440662" cy="30503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2C3249"/>
                </a:solidFill>
                <a:ea typeface="Kanit Light" pitchFamily="34" charset="-122"/>
                <a:cs typeface="Kanit Light" pitchFamily="34" charset="-120"/>
              </a:rPr>
              <a:t>Healthy Controls</a:t>
            </a:r>
            <a:endParaRPr lang="en-US" sz="2000" b="1" dirty="0"/>
          </a:p>
        </p:txBody>
      </p:sp>
      <p:sp>
        <p:nvSpPr>
          <p:cNvPr id="20" name="Text 12"/>
          <p:cNvSpPr/>
          <p:nvPr/>
        </p:nvSpPr>
        <p:spPr>
          <a:xfrm>
            <a:off x="683300" y="7274362"/>
            <a:ext cx="4226004" cy="31242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50"/>
              </a:lnSpc>
              <a:buNone/>
            </a:pPr>
            <a:r>
              <a:rPr lang="en-US" sz="2000" dirty="0">
                <a:solidFill>
                  <a:srgbClr val="2C3249"/>
                </a:solidFill>
                <a:ea typeface="Martel Sans" panose="00000800000000000000" pitchFamily="34" charset="-122"/>
                <a:cs typeface="Martel Sans" panose="00000800000000000000" pitchFamily="34" charset="-120"/>
              </a:rPr>
              <a:t>Dominant class in dataset</a:t>
            </a:r>
            <a:endParaRPr lang="en-US" sz="2000" dirty="0"/>
          </a:p>
        </p:txBody>
      </p:sp>
      <p:sp>
        <p:nvSpPr>
          <p:cNvPr id="21" name="Text 13"/>
          <p:cNvSpPr/>
          <p:nvPr/>
        </p:nvSpPr>
        <p:spPr>
          <a:xfrm>
            <a:off x="5202079" y="5964198"/>
            <a:ext cx="4226123" cy="64424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5050"/>
              </a:lnSpc>
              <a:buNone/>
            </a:pPr>
            <a:r>
              <a:rPr lang="en-US" sz="5050" b="1" dirty="0">
                <a:solidFill>
                  <a:srgbClr val="2C3249"/>
                </a:solidFill>
                <a:ea typeface="Kanit Light" pitchFamily="34" charset="-122"/>
                <a:cs typeface="Kanit Light" panose="020B0604020202020204" charset="-34"/>
              </a:rPr>
              <a:t>232</a:t>
            </a:r>
            <a:endParaRPr lang="en-US" sz="5050" b="1" dirty="0">
              <a:cs typeface="Kanit Light" panose="020B0604020202020204" charset="-34"/>
            </a:endParaRPr>
          </a:p>
        </p:txBody>
      </p:sp>
      <p:sp>
        <p:nvSpPr>
          <p:cNvPr id="22" name="Text 14"/>
          <p:cNvSpPr/>
          <p:nvPr/>
        </p:nvSpPr>
        <p:spPr>
          <a:xfrm>
            <a:off x="6094809" y="6852285"/>
            <a:ext cx="2440662" cy="30503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2C3249"/>
                </a:solidFill>
                <a:ea typeface="Kanit Light" pitchFamily="34" charset="-122"/>
                <a:cs typeface="Kanit Light" pitchFamily="34" charset="-120"/>
              </a:rPr>
              <a:t>MCI Cases</a:t>
            </a:r>
            <a:endParaRPr lang="en-US" sz="2000" b="1" dirty="0"/>
          </a:p>
        </p:txBody>
      </p:sp>
      <p:sp>
        <p:nvSpPr>
          <p:cNvPr id="23" name="Text 15"/>
          <p:cNvSpPr/>
          <p:nvPr/>
        </p:nvSpPr>
        <p:spPr>
          <a:xfrm>
            <a:off x="5202079" y="7274362"/>
            <a:ext cx="4226123" cy="31242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50"/>
              </a:lnSpc>
              <a:buNone/>
            </a:pPr>
            <a:r>
              <a:rPr lang="en-US" sz="2000" dirty="0">
                <a:solidFill>
                  <a:srgbClr val="2C3249"/>
                </a:solidFill>
                <a:ea typeface="Martel Sans" panose="00000800000000000000" pitchFamily="34" charset="-122"/>
                <a:cs typeface="Martel Sans" panose="00000800000000000000" pitchFamily="34" charset="-120"/>
              </a:rPr>
              <a:t>Mild Cognitive Impairment</a:t>
            </a:r>
            <a:endParaRPr lang="en-US" sz="2000" dirty="0"/>
          </a:p>
        </p:txBody>
      </p:sp>
      <p:sp>
        <p:nvSpPr>
          <p:cNvPr id="24" name="Text 16"/>
          <p:cNvSpPr/>
          <p:nvPr/>
        </p:nvSpPr>
        <p:spPr>
          <a:xfrm>
            <a:off x="9720977" y="5964198"/>
            <a:ext cx="4226004" cy="64424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5050"/>
              </a:lnSpc>
              <a:buNone/>
            </a:pPr>
            <a:r>
              <a:rPr lang="en-US" sz="5050" b="1" dirty="0">
                <a:solidFill>
                  <a:srgbClr val="2C3249"/>
                </a:solidFill>
                <a:ea typeface="Kanit Light" pitchFamily="34" charset="-122"/>
                <a:cs typeface="Kanit Light" pitchFamily="34" charset="-120"/>
              </a:rPr>
              <a:t>81</a:t>
            </a:r>
            <a:endParaRPr lang="en-US" sz="5050" b="1" dirty="0"/>
          </a:p>
        </p:txBody>
      </p:sp>
      <p:sp>
        <p:nvSpPr>
          <p:cNvPr id="25" name="Text 17"/>
          <p:cNvSpPr/>
          <p:nvPr/>
        </p:nvSpPr>
        <p:spPr>
          <a:xfrm>
            <a:off x="10613588" y="6852285"/>
            <a:ext cx="2440662" cy="30503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2C3249"/>
                </a:solidFill>
                <a:ea typeface="Kanit Light" pitchFamily="34" charset="-122"/>
                <a:cs typeface="Kanit Light" pitchFamily="34" charset="-120"/>
              </a:rPr>
              <a:t>AD Patients</a:t>
            </a:r>
            <a:endParaRPr lang="en-US" sz="2000" b="1" dirty="0"/>
          </a:p>
        </p:txBody>
      </p:sp>
      <p:sp>
        <p:nvSpPr>
          <p:cNvPr id="26" name="Text 18"/>
          <p:cNvSpPr/>
          <p:nvPr/>
        </p:nvSpPr>
        <p:spPr>
          <a:xfrm>
            <a:off x="9720977" y="7274362"/>
            <a:ext cx="4226004" cy="31242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50"/>
              </a:lnSpc>
              <a:buNone/>
            </a:pPr>
            <a:r>
              <a:rPr lang="en-US" sz="2000" dirty="0">
                <a:solidFill>
                  <a:srgbClr val="2C3249"/>
                </a:solidFill>
                <a:ea typeface="Martel Sans" panose="00000800000000000000" pitchFamily="34" charset="-122"/>
                <a:cs typeface="Martel Sans" panose="00000800000000000000" pitchFamily="34" charset="-120"/>
              </a:rPr>
              <a:t>Critical diagnostic minority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959556" y="179070"/>
            <a:ext cx="13185422" cy="61811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indent="0" algn="l">
              <a:lnSpc>
                <a:spcPts val="3850"/>
              </a:lnSpc>
              <a:buNone/>
            </a:pPr>
            <a:r>
              <a:rPr lang="en-US" sz="4450" b="1" dirty="0">
                <a:solidFill>
                  <a:srgbClr val="272D45"/>
                </a:solidFill>
                <a:ea typeface="Kanit Light" pitchFamily="34" charset="-122"/>
                <a:cs typeface="Kanit Light" pitchFamily="34" charset="-120"/>
                <a:sym typeface="+mn-ea"/>
              </a:rPr>
              <a:t>How Our Approach Compares to Existing Research</a:t>
            </a:r>
          </a:p>
        </p:txBody>
      </p:sp>
      <p:graphicFrame>
        <p:nvGraphicFramePr>
          <p:cNvPr id="3" name="Table 2"/>
          <p:cNvGraphicFramePr/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993445658"/>
              </p:ext>
            </p:extLst>
          </p:nvPr>
        </p:nvGraphicFramePr>
        <p:xfrm>
          <a:off x="259080" y="965200"/>
          <a:ext cx="14241780" cy="71723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36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36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736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736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37363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37363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796925">
                <a:tc>
                  <a:txBody>
                    <a:bodyPr/>
                    <a:lstStyle/>
                    <a:p>
                      <a:pPr marL="0" inden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lang="en-US" altLang="zh-CN" sz="1400" b="1" dirty="0">
                          <a:latin typeface="+mn-lt"/>
                          <a:ea typeface="Aptos"/>
                        </a:rPr>
                        <a:t>Aspect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lang="en-US" altLang="zh-CN" sz="1400" b="1" dirty="0">
                          <a:latin typeface="+mn-lt"/>
                          <a:ea typeface="Aptos"/>
                        </a:rPr>
                        <a:t>Jain et al. (2021)</a:t>
                      </a:r>
                    </a:p>
                    <a:p>
                      <a:pPr marL="0" inden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lang="en-US" altLang="zh-CN" sz="1400" b="1" dirty="0">
                          <a:latin typeface="+mn-lt"/>
                          <a:ea typeface="Aptos"/>
                        </a:rPr>
                        <a:t>(Category 1)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lang="en-US" altLang="zh-CN" sz="1400" b="1" dirty="0">
                          <a:latin typeface="+mn-lt"/>
                          <a:ea typeface="Aptos"/>
                        </a:rPr>
                        <a:t>Kumar &amp; Nelson (2024)</a:t>
                      </a:r>
                    </a:p>
                    <a:p>
                      <a:pPr marL="0" inden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lang="en-US" altLang="zh-CN" sz="1400" b="1" dirty="0">
                          <a:latin typeface="+mn-lt"/>
                          <a:ea typeface="Aptos"/>
                        </a:rPr>
                        <a:t>(Category 1)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lang="en-US" altLang="zh-CN" sz="1400" b="1" dirty="0">
                          <a:latin typeface="+mn-lt"/>
                          <a:ea typeface="Aptos"/>
                        </a:rPr>
                        <a:t>Gallay et al. (2020)</a:t>
                      </a:r>
                    </a:p>
                    <a:p>
                      <a:pPr marL="0" inden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lang="en-US" altLang="zh-CN" sz="1400" b="1" dirty="0">
                          <a:latin typeface="+mn-lt"/>
                          <a:ea typeface="Aptos"/>
                        </a:rPr>
                        <a:t>(Category 2)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lang="en-US" altLang="zh-CN" sz="1400" b="1" dirty="0" err="1">
                          <a:latin typeface="+mn-lt"/>
                          <a:ea typeface="Aptos"/>
                        </a:rPr>
                        <a:t>Ntampakis</a:t>
                      </a:r>
                      <a:r>
                        <a:rPr lang="en-US" altLang="zh-CN" sz="1400" b="1" dirty="0">
                          <a:latin typeface="+mn-lt"/>
                          <a:ea typeface="Aptos"/>
                        </a:rPr>
                        <a:t> et al. (2024)</a:t>
                      </a:r>
                    </a:p>
                    <a:p>
                      <a:pPr marL="0" inden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lang="en-US" altLang="zh-CN" sz="1400" b="1" dirty="0">
                          <a:latin typeface="+mn-lt"/>
                          <a:ea typeface="Aptos"/>
                        </a:rPr>
                        <a:t>(Category 3)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lang="en-US" altLang="zh-CN" sz="1400" b="1">
                          <a:latin typeface="+mn-lt"/>
                          <a:ea typeface="Aptos"/>
                        </a:rPr>
                        <a:t>Our Project</a:t>
                      </a: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96925">
                <a:tc>
                  <a:txBody>
                    <a:bodyPr/>
                    <a:lstStyle/>
                    <a:p>
                      <a:pPr marL="0" inden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lang="en-US" altLang="zh-CN" sz="1400" b="1">
                          <a:latin typeface="+mn-lt"/>
                          <a:ea typeface="Aptos"/>
                        </a:rPr>
                        <a:t>Model Type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lang="en-US" altLang="zh-CN" sz="1400">
                          <a:latin typeface="+mn-lt"/>
                          <a:ea typeface="Aptos"/>
                        </a:rPr>
                        <a:t>Traditional ML (SVM, AdaBoost)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lang="en-US" altLang="zh-CN" sz="1400">
                          <a:latin typeface="+mn-lt"/>
                          <a:ea typeface="Aptos"/>
                        </a:rPr>
                        <a:t>2D CNN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lang="en-US" altLang="zh-CN" sz="1400">
                          <a:latin typeface="+mn-lt"/>
                          <a:ea typeface="Aptos"/>
                        </a:rPr>
                        <a:t>Deep CNN with FullGrad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lang="en-US" altLang="zh-CN" sz="1400">
                          <a:latin typeface="+mn-lt"/>
                          <a:ea typeface="Aptos"/>
                        </a:rPr>
                        <a:t>3D CNN Ensemble (Dem3D)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lang="en-US" altLang="zh-CN" sz="1400">
                          <a:latin typeface="+mn-lt"/>
                          <a:ea typeface="Aptos"/>
                        </a:rPr>
                        <a:t>3D CNN (ResNet-34/50)</a:t>
                      </a: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96925">
                <a:tc>
                  <a:txBody>
                    <a:bodyPr/>
                    <a:lstStyle/>
                    <a:p>
                      <a:pPr marL="0" inden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lang="en-US" altLang="zh-CN" sz="1400" b="1">
                          <a:latin typeface="+mn-lt"/>
                          <a:ea typeface="Aptos"/>
                        </a:rPr>
                        <a:t>MRI Modality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lang="en-US" altLang="zh-CN" sz="1400">
                          <a:latin typeface="+mn-lt"/>
                          <a:ea typeface="Aptos"/>
                        </a:rPr>
                        <a:t>OASIS-3 (2D slices)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lang="en-US" altLang="zh-CN" sz="1400">
                          <a:latin typeface="+mn-lt"/>
                          <a:ea typeface="Aptos"/>
                        </a:rPr>
                        <a:t>OASIS-1 (2D slices)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lang="en-US" altLang="zh-CN" sz="1400">
                          <a:latin typeface="+mn-lt"/>
                          <a:ea typeface="Aptos"/>
                        </a:rPr>
                        <a:t>OASIS-3 (3D T1)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lang="en-US" altLang="zh-CN" sz="1400">
                          <a:latin typeface="+mn-lt"/>
                          <a:ea typeface="Aptos"/>
                        </a:rPr>
                        <a:t>3D MRI (slice selection)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lang="en-US" altLang="zh-CN" sz="1400">
                          <a:latin typeface="+mn-lt"/>
                          <a:ea typeface="Aptos"/>
                        </a:rPr>
                        <a:t>OASIS-3 (Full 3D Volumes)</a:t>
                      </a: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6925">
                <a:tc>
                  <a:txBody>
                    <a:bodyPr/>
                    <a:lstStyle/>
                    <a:p>
                      <a:pPr marL="0" inden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lang="en-US" altLang="zh-CN" sz="1400" b="1">
                          <a:latin typeface="+mn-lt"/>
                          <a:ea typeface="Aptos"/>
                        </a:rPr>
                        <a:t>Explainability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lang="en-US" altLang="zh-CN" sz="1400">
                          <a:latin typeface="+mn-lt"/>
                          <a:ea typeface="Segoe UI Emoji" panose="020B0502040204020203"/>
                        </a:rPr>
                        <a:t>❌</a:t>
                      </a:r>
                      <a:r>
                        <a:rPr lang="en-US" altLang="zh-CN" sz="1400">
                          <a:latin typeface="+mn-lt"/>
                          <a:ea typeface="Aptos"/>
                        </a:rPr>
                        <a:t> None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lang="en-US" altLang="zh-CN" sz="1400">
                          <a:latin typeface="+mn-lt"/>
                          <a:ea typeface="Segoe UI Emoji" panose="020B0502040204020203"/>
                        </a:rPr>
                        <a:t>❌</a:t>
                      </a:r>
                      <a:r>
                        <a:rPr lang="en-US" altLang="zh-CN" sz="1400">
                          <a:latin typeface="+mn-lt"/>
                          <a:ea typeface="Aptos"/>
                        </a:rPr>
                        <a:t> None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lang="en-US" altLang="zh-CN" sz="1400">
                          <a:latin typeface="+mn-lt"/>
                          <a:ea typeface="Segoe UI Emoji" panose="020B0502040204020203"/>
                        </a:rPr>
                        <a:t>✅</a:t>
                      </a:r>
                      <a:r>
                        <a:rPr lang="en-US" altLang="zh-CN" sz="1400">
                          <a:latin typeface="+mn-lt"/>
                          <a:ea typeface="Aptos"/>
                        </a:rPr>
                        <a:t> FullGrad (no atlas mapping)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lang="en-US" altLang="zh-CN" sz="1400">
                          <a:latin typeface="+mn-lt"/>
                          <a:ea typeface="Segoe UI Emoji" panose="020B0502040204020203"/>
                        </a:rPr>
                        <a:t>✅</a:t>
                      </a:r>
                      <a:r>
                        <a:rPr lang="en-US" altLang="zh-CN" sz="1400">
                          <a:latin typeface="+mn-lt"/>
                          <a:ea typeface="Aptos"/>
                        </a:rPr>
                        <a:t> Grad-CAM (attention maps only)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lang="en-US" altLang="zh-CN" sz="1400">
                          <a:latin typeface="+mn-lt"/>
                          <a:ea typeface="Segoe UI Emoji" panose="020B0502040204020203"/>
                        </a:rPr>
                        <a:t>✅</a:t>
                      </a:r>
                      <a:r>
                        <a:rPr lang="en-US" altLang="zh-CN" sz="1400">
                          <a:latin typeface="+mn-lt"/>
                          <a:ea typeface="Aptos"/>
                        </a:rPr>
                        <a:t> 3D Grad-CAM + Atlas Mapping</a:t>
                      </a: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96925">
                <a:tc>
                  <a:txBody>
                    <a:bodyPr/>
                    <a:lstStyle/>
                    <a:p>
                      <a:pPr marL="0" inden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lang="en-US" altLang="zh-CN" sz="1400" b="1">
                          <a:latin typeface="+mn-lt"/>
                          <a:ea typeface="Aptos"/>
                        </a:rPr>
                        <a:t>Focus Metric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lang="en-US" altLang="zh-CN" sz="1400">
                          <a:latin typeface="+mn-lt"/>
                          <a:ea typeface="Aptos"/>
                        </a:rPr>
                        <a:t>Accuracy (96.7%)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lang="en-US" altLang="zh-CN" sz="1400">
                          <a:latin typeface="+mn-lt"/>
                          <a:ea typeface="Aptos"/>
                        </a:rPr>
                        <a:t>Accuracy (98.8%)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lang="en-US" altLang="zh-CN" sz="1400">
                          <a:latin typeface="+mn-lt"/>
                          <a:ea typeface="Aptos"/>
                        </a:rPr>
                        <a:t>Accuracy, voxel importance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lang="en-US" altLang="zh-CN" sz="1400">
                          <a:latin typeface="+mn-lt"/>
                          <a:ea typeface="Aptos"/>
                        </a:rPr>
                        <a:t>Confidence + heatmap focus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lang="en-US" altLang="zh-CN" sz="1400">
                          <a:latin typeface="+mn-lt"/>
                          <a:ea typeface="Aptos"/>
                        </a:rPr>
                        <a:t>Recall, F1, Region-wise Activation</a:t>
                      </a: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96925">
                <a:tc>
                  <a:txBody>
                    <a:bodyPr/>
                    <a:lstStyle/>
                    <a:p>
                      <a:pPr marL="0" inden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lang="en-US" altLang="zh-CN" sz="1400" b="1">
                          <a:latin typeface="+mn-lt"/>
                          <a:ea typeface="Aptos"/>
                        </a:rPr>
                        <a:t>Anatomical Mapping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lang="en-US" altLang="zh-CN" sz="1400">
                          <a:latin typeface="+mn-lt"/>
                          <a:ea typeface="Segoe UI Emoji" panose="020B0502040204020203"/>
                        </a:rPr>
                        <a:t>❌</a:t>
                      </a:r>
                      <a:r>
                        <a:rPr lang="en-US" altLang="zh-CN" sz="1400">
                          <a:latin typeface="+mn-lt"/>
                          <a:ea typeface="Aptos"/>
                        </a:rPr>
                        <a:t> None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lang="en-US" altLang="zh-CN" sz="1400">
                          <a:latin typeface="+mn-lt"/>
                          <a:ea typeface="Segoe UI Emoji" panose="020B0502040204020203"/>
                        </a:rPr>
                        <a:t>❌</a:t>
                      </a:r>
                      <a:r>
                        <a:rPr lang="en-US" altLang="zh-CN" sz="1400">
                          <a:latin typeface="+mn-lt"/>
                          <a:ea typeface="Aptos"/>
                        </a:rPr>
                        <a:t> None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lang="en-US" altLang="zh-CN" sz="1400">
                          <a:latin typeface="+mn-lt"/>
                          <a:ea typeface="Segoe UI Emoji" panose="020B0502040204020203"/>
                        </a:rPr>
                        <a:t>❌</a:t>
                      </a:r>
                      <a:r>
                        <a:rPr lang="en-US" altLang="zh-CN" sz="1400">
                          <a:latin typeface="+mn-lt"/>
                          <a:ea typeface="Aptos"/>
                        </a:rPr>
                        <a:t> None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lang="en-US" altLang="zh-CN" sz="1400">
                          <a:latin typeface="+mn-lt"/>
                          <a:ea typeface="Segoe UI Emoji" panose="020B0502040204020203"/>
                        </a:rPr>
                        <a:t>❌</a:t>
                      </a:r>
                      <a:r>
                        <a:rPr lang="en-US" altLang="zh-CN" sz="1400">
                          <a:latin typeface="+mn-lt"/>
                          <a:ea typeface="Aptos"/>
                        </a:rPr>
                        <a:t> None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lang="en-US" altLang="zh-CN" sz="1400">
                          <a:latin typeface="+mn-lt"/>
                          <a:ea typeface="Segoe UI Emoji" panose="020B0502040204020203"/>
                        </a:rPr>
                        <a:t>✅</a:t>
                      </a:r>
                      <a:r>
                        <a:rPr lang="en-US" altLang="zh-CN" sz="1400">
                          <a:latin typeface="+mn-lt"/>
                          <a:ea typeface="Aptos"/>
                        </a:rPr>
                        <a:t> Harvard-Oxford Atlas Overlay</a:t>
                      </a: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96925">
                <a:tc>
                  <a:txBody>
                    <a:bodyPr/>
                    <a:lstStyle/>
                    <a:p>
                      <a:pPr marL="0" inden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lang="en-US" altLang="zh-CN" sz="1400" b="1">
                          <a:latin typeface="+mn-lt"/>
                          <a:ea typeface="Aptos"/>
                        </a:rPr>
                        <a:t>Class Handling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lang="en-US" altLang="zh-CN" sz="1400">
                          <a:latin typeface="+mn-lt"/>
                          <a:ea typeface="Aptos"/>
                        </a:rPr>
                        <a:t>Binary (Demented vs. Healthy)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lang="en-US" altLang="zh-CN" sz="1400">
                          <a:latin typeface="+mn-lt"/>
                          <a:ea typeface="Aptos"/>
                        </a:rPr>
                        <a:t>4-Class (Mild, Moderate, Severe, Non-AD)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lang="en-US" altLang="zh-CN" sz="1400">
                          <a:latin typeface="+mn-lt"/>
                          <a:ea typeface="Aptos"/>
                        </a:rPr>
                        <a:t>Binary classification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lang="en-US" altLang="zh-CN" sz="1400">
                          <a:latin typeface="+mn-lt"/>
                          <a:ea typeface="Aptos"/>
                        </a:rPr>
                        <a:t>Binary classification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lang="en-US" altLang="zh-CN" sz="1400">
                          <a:latin typeface="+mn-lt"/>
                          <a:ea typeface="Aptos"/>
                        </a:rPr>
                        <a:t>3-Class (Healthy, MCI, AD)</a:t>
                      </a: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796925">
                <a:tc>
                  <a:txBody>
                    <a:bodyPr/>
                    <a:lstStyle/>
                    <a:p>
                      <a:pPr marL="0" inden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lang="en-US" altLang="zh-CN" sz="1400" b="1">
                          <a:latin typeface="+mn-lt"/>
                          <a:ea typeface="Aptos"/>
                        </a:rPr>
                        <a:t>Class Imbalance Handling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lang="en-US" altLang="zh-CN" sz="1400">
                          <a:latin typeface="+mn-lt"/>
                          <a:ea typeface="Segoe UI Emoji" panose="020B0502040204020203"/>
                        </a:rPr>
                        <a:t>❌</a:t>
                      </a:r>
                      <a:r>
                        <a:rPr lang="en-US" altLang="zh-CN" sz="1400">
                          <a:latin typeface="+mn-lt"/>
                          <a:ea typeface="Aptos"/>
                        </a:rPr>
                        <a:t> Not addressed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lang="en-US" altLang="zh-CN" sz="1400">
                          <a:latin typeface="+mn-lt"/>
                          <a:ea typeface="Segoe UI Emoji" panose="020B0502040204020203"/>
                        </a:rPr>
                        <a:t>✅</a:t>
                      </a:r>
                      <a:r>
                        <a:rPr lang="en-US" altLang="zh-CN" sz="1400">
                          <a:latin typeface="+mn-lt"/>
                          <a:ea typeface="Aptos"/>
                        </a:rPr>
                        <a:t> Augmentation only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lang="en-US" altLang="zh-CN" sz="1400">
                          <a:latin typeface="+mn-lt"/>
                          <a:ea typeface="Segoe UI Emoji" panose="020B0502040204020203"/>
                        </a:rPr>
                        <a:t>❌</a:t>
                      </a:r>
                      <a:r>
                        <a:rPr lang="en-US" altLang="zh-CN" sz="1400">
                          <a:latin typeface="+mn-lt"/>
                          <a:ea typeface="Aptos"/>
                        </a:rPr>
                        <a:t> Not mentioned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lang="en-US" altLang="zh-CN" sz="1400">
                          <a:latin typeface="+mn-lt"/>
                          <a:ea typeface="Segoe UI Emoji" panose="020B0502040204020203"/>
                        </a:rPr>
                        <a:t>✅</a:t>
                      </a:r>
                      <a:r>
                        <a:rPr lang="en-US" altLang="zh-CN" sz="1400">
                          <a:latin typeface="+mn-lt"/>
                          <a:ea typeface="Aptos"/>
                        </a:rPr>
                        <a:t> Confidence-based ensemble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lang="en-US" altLang="zh-CN" sz="1400">
                          <a:latin typeface="+mn-lt"/>
                          <a:ea typeface="Segoe UI Emoji" panose="020B0502040204020203"/>
                        </a:rPr>
                        <a:t>✅</a:t>
                      </a:r>
                      <a:r>
                        <a:rPr lang="en-US" altLang="zh-CN" sz="1400">
                          <a:latin typeface="+mn-lt"/>
                          <a:ea typeface="Aptos"/>
                        </a:rPr>
                        <a:t> Weighted Loss + Augmentation</a:t>
                      </a: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796925">
                <a:tc>
                  <a:txBody>
                    <a:bodyPr/>
                    <a:lstStyle/>
                    <a:p>
                      <a:pPr marL="0" inden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lang="en-US" altLang="zh-CN" sz="1400" b="1">
                          <a:latin typeface="+mn-lt"/>
                          <a:ea typeface="Aptos"/>
                        </a:rPr>
                        <a:t>Model Reproducibility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lang="en-US" altLang="zh-CN" sz="1400">
                          <a:latin typeface="+mn-lt"/>
                          <a:ea typeface="Segoe UI Emoji" panose="020B0502040204020203"/>
                        </a:rPr>
                        <a:t>❌</a:t>
                      </a:r>
                      <a:r>
                        <a:rPr lang="en-US" altLang="zh-CN" sz="1400">
                          <a:latin typeface="+mn-lt"/>
                          <a:ea typeface="Aptos"/>
                        </a:rPr>
                        <a:t> No logging or artifacts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lang="en-US" altLang="zh-CN" sz="1400">
                          <a:latin typeface="+mn-lt"/>
                          <a:ea typeface="Segoe UI Emoji" panose="020B0502040204020203"/>
                        </a:rPr>
                        <a:t>❌</a:t>
                      </a:r>
                      <a:r>
                        <a:rPr lang="en-US" altLang="zh-CN" sz="1400">
                          <a:latin typeface="+mn-lt"/>
                          <a:ea typeface="Aptos"/>
                        </a:rPr>
                        <a:t> No MLOps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lang="en-US" altLang="zh-CN" sz="1400">
                          <a:latin typeface="+mn-lt"/>
                          <a:ea typeface="Segoe UI Emoji" panose="020B0502040204020203"/>
                        </a:rPr>
                        <a:t>❌</a:t>
                      </a:r>
                      <a:r>
                        <a:rPr lang="en-US" altLang="zh-CN" sz="1400">
                          <a:latin typeface="+mn-lt"/>
                          <a:ea typeface="Aptos"/>
                        </a:rPr>
                        <a:t> Not reproducible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lang="en-US" altLang="zh-CN" sz="1400">
                          <a:latin typeface="+mn-lt"/>
                          <a:ea typeface="Segoe UI Emoji" panose="020B0502040204020203"/>
                        </a:rPr>
                        <a:t>❌</a:t>
                      </a:r>
                      <a:r>
                        <a:rPr lang="en-US" altLang="zh-CN" sz="1400">
                          <a:latin typeface="+mn-lt"/>
                          <a:ea typeface="Aptos"/>
                        </a:rPr>
                        <a:t> Closed setup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lang="en-US" altLang="zh-CN" sz="1400" dirty="0">
                          <a:latin typeface="+mn-lt"/>
                          <a:ea typeface="Segoe UI Emoji" panose="020B0502040204020203"/>
                        </a:rPr>
                        <a:t>✅</a:t>
                      </a:r>
                      <a:r>
                        <a:rPr lang="en-US" altLang="zh-CN" sz="1400" dirty="0">
                          <a:latin typeface="+mn-lt"/>
                          <a:ea typeface="Aptos"/>
                        </a:rPr>
                        <a:t> Full W&amp;B Logging + Model Artifacts</a:t>
                      </a: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213995" y="146685"/>
            <a:ext cx="14272895" cy="7771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50" b="1" dirty="0"/>
              <a:t>From Foundations to Fine Tuning</a:t>
            </a:r>
          </a:p>
        </p:txBody>
      </p:sp>
      <p:sp>
        <p:nvSpPr>
          <p:cNvPr id="3" name="Text Box 2"/>
          <p:cNvSpPr txBox="1"/>
          <p:nvPr/>
        </p:nvSpPr>
        <p:spPr>
          <a:xfrm>
            <a:off x="213995" y="923821"/>
            <a:ext cx="7610492" cy="683048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altLang="en-US" sz="2000" b="1" dirty="0"/>
              <a:t>Why not train from scratch?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en-US" sz="2000" dirty="0"/>
              <a:t>OASIS-3 is large and complex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en-US" sz="2000" dirty="0"/>
              <a:t>But training full 3D CNNs from scratch is computationally expensive and slow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en-US" sz="2000" dirty="0"/>
              <a:t>So, we used transfer learning to build efficiently on prior knowledge</a:t>
            </a:r>
          </a:p>
          <a:p>
            <a:endParaRPr lang="en-US" altLang="en-US" sz="2000" dirty="0"/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altLang="en-US" sz="2000" b="1" dirty="0"/>
              <a:t>What is transfer learning in our case?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en-US" sz="2000" dirty="0"/>
              <a:t>Started with pretrained 3D </a:t>
            </a:r>
            <a:r>
              <a:rPr lang="en-US" altLang="en-US" sz="2000" dirty="0" err="1"/>
              <a:t>ResNet</a:t>
            </a:r>
            <a:r>
              <a:rPr lang="en-US" altLang="en-US" sz="2000" dirty="0"/>
              <a:t> models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en-US" sz="2000" dirty="0"/>
              <a:t> These models already “understand” 3D structure from prior medical scans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en-US" sz="2000" dirty="0"/>
              <a:t> We customized the final FC layer and unlocked last layers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en-US" sz="2000" dirty="0"/>
              <a:t>(e.g., Layer3, Layer4, fc)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en-US" sz="2000" dirty="0"/>
              <a:t> This allowed us to adapt the model to our Alzheimer’s classification task (Healthy, MCI, AD)</a:t>
            </a:r>
          </a:p>
          <a:p>
            <a:endParaRPr lang="en-US" altLang="en-US" sz="2000" dirty="0"/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altLang="en-US" sz="2000" b="1" dirty="0"/>
              <a:t>Why MONAI </a:t>
            </a:r>
            <a:r>
              <a:rPr lang="en-US" altLang="en-US" sz="2000" b="1" dirty="0" err="1"/>
              <a:t>ResNet</a:t>
            </a:r>
            <a:r>
              <a:rPr lang="en-US" altLang="en-US" sz="2000" b="1" dirty="0"/>
              <a:t>?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en-US" sz="2000" dirty="0"/>
              <a:t>MONAI provides 3D </a:t>
            </a:r>
            <a:r>
              <a:rPr lang="en-US" altLang="en-US" sz="2000" dirty="0" err="1"/>
              <a:t>ResNets</a:t>
            </a:r>
            <a:r>
              <a:rPr lang="en-US" altLang="en-US" sz="2000" dirty="0"/>
              <a:t> trained on MRI, PET, CT scans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en-US" sz="2000" dirty="0"/>
              <a:t> Works directly with our input shape: (1, 128, 128, 128)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en-US" sz="2000" dirty="0"/>
              <a:t> Ideal backbone for clinically relevant transfer learning</a:t>
            </a:r>
          </a:p>
        </p:txBody>
      </p:sp>
      <p:sp>
        <p:nvSpPr>
          <p:cNvPr id="4" name="Text Box 3"/>
          <p:cNvSpPr txBox="1"/>
          <p:nvPr/>
        </p:nvSpPr>
        <p:spPr>
          <a:xfrm>
            <a:off x="8158480" y="1241425"/>
            <a:ext cx="6257925" cy="59937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altLang="en-US" sz="2000" b="1" dirty="0">
                <a:sym typeface="+mn-ea"/>
              </a:rPr>
              <a:t>Hyperparameter Optimization: No One-Size-Fits-All</a:t>
            </a:r>
          </a:p>
          <a:p>
            <a:endParaRPr lang="en-US" altLang="en-US" sz="2000" b="1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en-US" sz="2000" dirty="0">
                <a:sym typeface="+mn-ea"/>
              </a:rPr>
              <a:t>We ran extensive tuning experiments across multiple dimensions:</a:t>
            </a:r>
            <a:endParaRPr lang="en-US" altLang="en-US" sz="20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altLang="en-US" sz="2000" dirty="0"/>
          </a:p>
          <a:p>
            <a:pPr marL="1714500" lvl="3" indent="-342900">
              <a:buFont typeface="Wingdings" panose="05000000000000000000" pitchFamily="2" charset="2"/>
              <a:buChar char="q"/>
            </a:pPr>
            <a:r>
              <a:rPr lang="en-US" altLang="en-US" sz="2000" dirty="0">
                <a:sym typeface="+mn-ea"/>
              </a:rPr>
              <a:t>Learning rate, dropout, weight decay</a:t>
            </a:r>
            <a:endParaRPr lang="en-US" altLang="en-US" sz="2000" dirty="0"/>
          </a:p>
          <a:p>
            <a:pPr marL="1714500" lvl="3" indent="-342900">
              <a:buFont typeface="Wingdings" panose="05000000000000000000" pitchFamily="2" charset="2"/>
              <a:buChar char="q"/>
            </a:pPr>
            <a:endParaRPr lang="en-US" altLang="en-US" sz="2000" dirty="0"/>
          </a:p>
          <a:p>
            <a:pPr marL="1714500" lvl="3" indent="-342900">
              <a:buFont typeface="Wingdings" panose="05000000000000000000" pitchFamily="2" charset="2"/>
              <a:buChar char="q"/>
            </a:pPr>
            <a:r>
              <a:rPr lang="en-US" altLang="en-US" sz="2000" dirty="0">
                <a:sym typeface="+mn-ea"/>
              </a:rPr>
              <a:t>Optimizers: Adam, </a:t>
            </a:r>
            <a:r>
              <a:rPr lang="en-US" altLang="en-US" sz="2000" dirty="0" err="1">
                <a:sym typeface="+mn-ea"/>
              </a:rPr>
              <a:t>AdamW</a:t>
            </a:r>
            <a:r>
              <a:rPr lang="en-US" altLang="en-US" sz="2000" dirty="0">
                <a:sym typeface="+mn-ea"/>
              </a:rPr>
              <a:t>, SGD</a:t>
            </a:r>
            <a:endParaRPr lang="en-US" altLang="en-US" sz="2000" dirty="0"/>
          </a:p>
          <a:p>
            <a:pPr marL="1714500" lvl="3" indent="-342900">
              <a:buFont typeface="Wingdings" panose="05000000000000000000" pitchFamily="2" charset="2"/>
              <a:buChar char="q"/>
            </a:pPr>
            <a:endParaRPr lang="en-US" altLang="en-US" sz="2000" dirty="0"/>
          </a:p>
          <a:p>
            <a:pPr marL="1714500" lvl="3" indent="-342900">
              <a:buFont typeface="Wingdings" panose="05000000000000000000" pitchFamily="2" charset="2"/>
              <a:buChar char="q"/>
            </a:pPr>
            <a:r>
              <a:rPr lang="en-US" altLang="en-US" sz="2000" dirty="0">
                <a:sym typeface="+mn-ea"/>
              </a:rPr>
              <a:t>Activation functions: </a:t>
            </a:r>
            <a:r>
              <a:rPr lang="en-US" altLang="en-US" sz="2000" dirty="0" err="1">
                <a:sym typeface="+mn-ea"/>
              </a:rPr>
              <a:t>ReLU</a:t>
            </a:r>
            <a:r>
              <a:rPr lang="en-US" altLang="en-US" sz="2000" dirty="0">
                <a:sym typeface="+mn-ea"/>
              </a:rPr>
              <a:t> vs </a:t>
            </a:r>
            <a:r>
              <a:rPr lang="en-US" altLang="en-US" sz="2000" dirty="0" err="1">
                <a:sym typeface="+mn-ea"/>
              </a:rPr>
              <a:t>LeakyReLU</a:t>
            </a:r>
            <a:endParaRPr lang="en-US" altLang="en-US" sz="20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altLang="en-US" sz="20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en-US" sz="2000" dirty="0">
                <a:sym typeface="+mn-ea"/>
              </a:rPr>
              <a:t>Weight initialization: Kaiming, Xavier</a:t>
            </a:r>
            <a:endParaRPr lang="en-US" altLang="en-US" sz="20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altLang="en-US" sz="2000" dirty="0">
              <a:sym typeface="+mn-ea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en-US" sz="2000" dirty="0">
                <a:sym typeface="+mn-ea"/>
              </a:rPr>
              <a:t> Sweeps were tracked via Weights &amp; Biases (W&amp;B) for full reproducibility</a:t>
            </a:r>
            <a:endParaRPr lang="en-US" altLang="en-US" sz="20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altLang="en-US" sz="2000" dirty="0">
              <a:sym typeface="+mn-ea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en-US" sz="2000" dirty="0">
                <a:sym typeface="+mn-ea"/>
              </a:rPr>
              <a:t> Helped us identify the best-performing configurations</a:t>
            </a:r>
            <a:endParaRPr lang="en-US" altLang="en-US" sz="2000" dirty="0"/>
          </a:p>
          <a:p>
            <a:endParaRPr lang="en-US"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Runtimes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190" y="944245"/>
            <a:ext cx="14075410" cy="7091680"/>
          </a:xfrm>
          <a:prstGeom prst="rect">
            <a:avLst/>
          </a:prstGeom>
        </p:spPr>
      </p:pic>
      <p:sp>
        <p:nvSpPr>
          <p:cNvPr id="3" name="Text Box 2"/>
          <p:cNvSpPr txBox="1"/>
          <p:nvPr/>
        </p:nvSpPr>
        <p:spPr>
          <a:xfrm>
            <a:off x="146756" y="193675"/>
            <a:ext cx="1428044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tx1"/>
                </a:solidFill>
              </a:rPr>
              <a:t>A look at our WEIGHTS &amp; BIASES workspace: The Model Runtimes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test_acc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375" y="636905"/>
            <a:ext cx="5387340" cy="3477895"/>
          </a:xfrm>
          <a:prstGeom prst="rect">
            <a:avLst/>
          </a:prstGeom>
        </p:spPr>
      </p:pic>
      <p:pic>
        <p:nvPicPr>
          <p:cNvPr id="5" name="Picture 4" descr="test_metric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3375" y="4305300"/>
            <a:ext cx="13763625" cy="305752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05825" y="812800"/>
            <a:ext cx="5104765" cy="3302000"/>
          </a:xfrm>
          <a:prstGeom prst="rect">
            <a:avLst/>
          </a:prstGeom>
        </p:spPr>
      </p:pic>
      <p:sp>
        <p:nvSpPr>
          <p:cNvPr id="7" name="Text Box 6"/>
          <p:cNvSpPr txBox="1"/>
          <p:nvPr/>
        </p:nvSpPr>
        <p:spPr>
          <a:xfrm>
            <a:off x="2881771" y="248337"/>
            <a:ext cx="8866858" cy="7771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50" b="1" dirty="0"/>
              <a:t>Weights &amp; Biases Model Metrics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607060" y="314325"/>
            <a:ext cx="13192125" cy="54673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sz="4450" b="1" dirty="0"/>
              <a:t>Top Performing Model Config</a:t>
            </a:r>
          </a:p>
        </p:txBody>
      </p:sp>
      <p:pic>
        <p:nvPicPr>
          <p:cNvPr id="7" name="Picture 6" descr="ChatGPT Image Apr 20, 2025, 02_27_42 PM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065" y="4305300"/>
            <a:ext cx="3762375" cy="3924935"/>
          </a:xfrm>
          <a:prstGeom prst="rect">
            <a:avLst/>
          </a:prstGeom>
        </p:spPr>
      </p:pic>
      <p:sp>
        <p:nvSpPr>
          <p:cNvPr id="8" name="Right Arrow 7"/>
          <p:cNvSpPr/>
          <p:nvPr/>
        </p:nvSpPr>
        <p:spPr>
          <a:xfrm>
            <a:off x="4155440" y="6169660"/>
            <a:ext cx="979170" cy="485775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 Box 8"/>
          <p:cNvSpPr txBox="1"/>
          <p:nvPr/>
        </p:nvSpPr>
        <p:spPr>
          <a:xfrm>
            <a:off x="5360035" y="6169660"/>
            <a:ext cx="4638675" cy="53149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sz="2400" b="1" dirty="0"/>
              <a:t>Low Recall -&gt; High False Negatives!</a:t>
            </a:r>
          </a:p>
        </p:txBody>
      </p:sp>
      <p:graphicFrame>
        <p:nvGraphicFramePr>
          <p:cNvPr id="10" name="Table 9"/>
          <p:cNvGraphicFramePr/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674993109"/>
              </p:ext>
            </p:extLst>
          </p:nvPr>
        </p:nvGraphicFramePr>
        <p:xfrm>
          <a:off x="3286760" y="1098550"/>
          <a:ext cx="7940040" cy="38804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906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493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116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Parameter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Details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11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MONAI 3D CNN ResNet - 50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11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Layers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Layer 3, Layer 4, FC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11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Dropout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0.1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11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Learning 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0.00005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11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Weight Decay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0.001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11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Batch Size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311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Activation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LeakyRelu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311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 err="1"/>
                        <a:t>Weight_Init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 err="1"/>
                        <a:t>Kaiming_Normal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1" name="Text Box 10"/>
          <p:cNvSpPr txBox="1"/>
          <p:nvPr/>
        </p:nvSpPr>
        <p:spPr>
          <a:xfrm>
            <a:off x="5360035" y="6701155"/>
            <a:ext cx="5575935" cy="72453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en-US" i="1" u="sng" dirty="0">
                <a:solidFill>
                  <a:srgbClr val="FF0000"/>
                </a:solidFill>
              </a:rPr>
              <a:t>False Negative: A dangerous oversight—early Alzheimer’s labeled as Healthy, risking delayed intervention.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423823"/>
            <a:ext cx="13042821" cy="141755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272D45"/>
                </a:solidFill>
                <a:ea typeface="Kanit Light" pitchFamily="34" charset="-122"/>
                <a:cs typeface="Kanit Light" pitchFamily="34" charset="-120"/>
              </a:rPr>
              <a:t>Rethinking Class Labels</a:t>
            </a:r>
          </a:p>
          <a:p>
            <a:pPr marL="0" indent="0" algn="ctr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272D45"/>
                </a:solidFill>
                <a:ea typeface="Kanit Light" pitchFamily="34" charset="-122"/>
                <a:cs typeface="Kanit Light" pitchFamily="34" charset="-120"/>
              </a:rPr>
              <a:t>Can Balance Improve Recall?</a:t>
            </a:r>
            <a:endParaRPr lang="en-US" sz="4450" b="1" dirty="0"/>
          </a:p>
        </p:txBody>
      </p:sp>
      <p:sp>
        <p:nvSpPr>
          <p:cNvPr id="3" name="Text 1"/>
          <p:cNvSpPr/>
          <p:nvPr/>
        </p:nvSpPr>
        <p:spPr>
          <a:xfrm>
            <a:off x="793790" y="2270244"/>
            <a:ext cx="13042821" cy="7258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000" b="1" dirty="0">
                <a:solidFill>
                  <a:srgbClr val="2C3249"/>
                </a:solidFill>
                <a:ea typeface="Martel Sans" panose="00000800000000000000" pitchFamily="34" charset="-122"/>
                <a:cs typeface="Martel Sans" panose="00000800000000000000" pitchFamily="34" charset="-120"/>
              </a:rPr>
              <a:t>Class imbalance poses a significant challenge for our 3-class Alzheimer's detection model. The minority AD cases often get overlooked despite their critical importance.</a:t>
            </a:r>
            <a:endParaRPr lang="en-US" sz="2000" b="1" dirty="0"/>
          </a:p>
        </p:txBody>
      </p:sp>
      <p:sp>
        <p:nvSpPr>
          <p:cNvPr id="4" name="Text 2"/>
          <p:cNvSpPr/>
          <p:nvPr/>
        </p:nvSpPr>
        <p:spPr>
          <a:xfrm>
            <a:off x="793790" y="3633589"/>
            <a:ext cx="2835235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0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Kanit Light" pitchFamily="34" charset="-122"/>
                <a:cs typeface="Kanit Light" pitchFamily="34" charset="-120"/>
              </a:rPr>
              <a:t>Binary Reframing</a:t>
            </a:r>
          </a:p>
        </p:txBody>
      </p:sp>
      <p:sp>
        <p:nvSpPr>
          <p:cNvPr id="5" name="Text 3"/>
          <p:cNvSpPr/>
          <p:nvPr/>
        </p:nvSpPr>
        <p:spPr>
          <a:xfrm>
            <a:off x="793155" y="4263628"/>
            <a:ext cx="3978116" cy="7258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0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Martel Sans" panose="00000800000000000000" pitchFamily="34" charset="-122"/>
                <a:cs typeface="Martel Sans" panose="00000800000000000000" pitchFamily="34" charset="-120"/>
              </a:rPr>
              <a:t>Merged MCI+AD into single "Demented" class</a:t>
            </a:r>
          </a:p>
        </p:txBody>
      </p:sp>
      <p:sp>
        <p:nvSpPr>
          <p:cNvPr id="6" name="Text 4"/>
          <p:cNvSpPr/>
          <p:nvPr/>
        </p:nvSpPr>
        <p:spPr>
          <a:xfrm>
            <a:off x="5654238" y="3633589"/>
            <a:ext cx="2835235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0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Kanit Light" pitchFamily="34" charset="-122"/>
                <a:cs typeface="Kanit Light" pitchFamily="34" charset="-120"/>
              </a:rPr>
              <a:t>Improved Balance</a:t>
            </a:r>
          </a:p>
        </p:txBody>
      </p:sp>
      <p:sp>
        <p:nvSpPr>
          <p:cNvPr id="7" name="Text 5"/>
          <p:cNvSpPr/>
          <p:nvPr/>
        </p:nvSpPr>
        <p:spPr>
          <a:xfrm>
            <a:off x="5654238" y="4263628"/>
            <a:ext cx="3978116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000" b="1" dirty="0">
                <a:solidFill>
                  <a:srgbClr val="2C3249"/>
                </a:solidFill>
                <a:ea typeface="Martel Sans" panose="00000800000000000000" pitchFamily="34" charset="-122"/>
                <a:cs typeface="Martel Sans" panose="00000800000000000000" pitchFamily="34" charset="-120"/>
              </a:rPr>
              <a:t>Achieved cleaner </a:t>
            </a:r>
          </a:p>
          <a:p>
            <a:pPr marL="0" indent="0" algn="l">
              <a:lnSpc>
                <a:spcPts val="2850"/>
              </a:lnSpc>
              <a:buNone/>
            </a:pPr>
            <a:r>
              <a:rPr lang="en-US" sz="2000" b="1" dirty="0">
                <a:solidFill>
                  <a:srgbClr val="2C3249"/>
                </a:solidFill>
                <a:ea typeface="Martel Sans" panose="00000800000000000000" pitchFamily="34" charset="-122"/>
                <a:cs typeface="Martel Sans" panose="00000800000000000000" pitchFamily="34" charset="-120"/>
              </a:rPr>
              <a:t>1:1.6 class ratio</a:t>
            </a:r>
            <a:endParaRPr lang="en-US" sz="2000" b="1" dirty="0"/>
          </a:p>
        </p:txBody>
      </p:sp>
      <p:sp>
        <p:nvSpPr>
          <p:cNvPr id="8" name="Text 6"/>
          <p:cNvSpPr/>
          <p:nvPr/>
        </p:nvSpPr>
        <p:spPr>
          <a:xfrm>
            <a:off x="9752687" y="3633589"/>
            <a:ext cx="2835235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0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Kanit Light" pitchFamily="34" charset="-122"/>
                <a:cs typeface="Kanit Light" pitchFamily="34" charset="-120"/>
              </a:rPr>
              <a:t>Enhanced Learning</a:t>
            </a:r>
          </a:p>
        </p:txBody>
      </p:sp>
      <p:sp>
        <p:nvSpPr>
          <p:cNvPr id="9" name="Text 7"/>
          <p:cNvSpPr/>
          <p:nvPr/>
        </p:nvSpPr>
        <p:spPr>
          <a:xfrm>
            <a:off x="9752687" y="4263628"/>
            <a:ext cx="3978116" cy="7258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000" b="1" dirty="0">
                <a:solidFill>
                  <a:srgbClr val="2C3249"/>
                </a:solidFill>
                <a:ea typeface="Martel Sans" panose="00000800000000000000" pitchFamily="34" charset="-122"/>
                <a:cs typeface="Martel Sans" panose="00000800000000000000" pitchFamily="34" charset="-120"/>
              </a:rPr>
              <a:t>Better feature extraction for cognitive impairment</a:t>
            </a:r>
            <a:endParaRPr lang="en-US" sz="2000" b="1" dirty="0"/>
          </a:p>
        </p:txBody>
      </p:sp>
      <p:sp>
        <p:nvSpPr>
          <p:cNvPr id="10" name="Text 8"/>
          <p:cNvSpPr/>
          <p:nvPr/>
        </p:nvSpPr>
        <p:spPr>
          <a:xfrm>
            <a:off x="793155" y="5779492"/>
            <a:ext cx="13042821" cy="7258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000" b="1" dirty="0">
                <a:solidFill>
                  <a:srgbClr val="2C3249"/>
                </a:solidFill>
                <a:ea typeface="Martel Sans" panose="00000800000000000000" pitchFamily="34" charset="-122"/>
                <a:cs typeface="Martel Sans" panose="00000800000000000000" pitchFamily="34" charset="-120"/>
              </a:rPr>
              <a:t>This strategic rebalancing aims to boost recall for early dementia detection and reduce potentially dangerous false negatives in clinical applications.</a:t>
            </a:r>
            <a:endParaRPr lang="en-US" sz="2000" b="1" dirty="0"/>
          </a:p>
        </p:txBody>
      </p:sp>
      <p:sp>
        <p:nvSpPr>
          <p:cNvPr id="11" name="Curved Down Arrow 10"/>
          <p:cNvSpPr/>
          <p:nvPr/>
        </p:nvSpPr>
        <p:spPr>
          <a:xfrm>
            <a:off x="4074160" y="3895725"/>
            <a:ext cx="1216660" cy="730885"/>
          </a:xfrm>
          <a:prstGeom prst="curvedDown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3" name="Curved Up Arrow 12"/>
          <p:cNvSpPr/>
          <p:nvPr/>
        </p:nvSpPr>
        <p:spPr>
          <a:xfrm>
            <a:off x="8310245" y="3987800"/>
            <a:ext cx="1216660" cy="730885"/>
          </a:xfrm>
          <a:prstGeom prst="curvedUp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14" name="Picture 13" descr="balance-117278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11280" y="6179820"/>
            <a:ext cx="2635250" cy="178816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1262380" y="325755"/>
            <a:ext cx="11806555" cy="53467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sz="4450" b="1" dirty="0"/>
              <a:t>Binary Model Performance Metrics</a:t>
            </a:r>
          </a:p>
        </p:txBody>
      </p:sp>
      <p:pic>
        <p:nvPicPr>
          <p:cNvPr id="3" name="Picture 2" descr="Binary_set_ConfusionMatrix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07566"/>
            <a:ext cx="8579555" cy="6794703"/>
          </a:xfrm>
          <a:prstGeom prst="rect">
            <a:avLst/>
          </a:prstGeom>
        </p:spPr>
      </p:pic>
      <p:sp>
        <p:nvSpPr>
          <p:cNvPr id="4" name="Text Box 3"/>
          <p:cNvSpPr txBox="1"/>
          <p:nvPr/>
        </p:nvSpPr>
        <p:spPr>
          <a:xfrm>
            <a:off x="8579555" y="1315085"/>
            <a:ext cx="5658556" cy="6033982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en-US" sz="2400" b="1" dirty="0"/>
              <a:t>Why Recall Matters in Alzheimer’s Screening</a:t>
            </a:r>
          </a:p>
          <a:p>
            <a:endParaRPr lang="en-US" altLang="en-US" sz="20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000" b="1" dirty="0"/>
              <a:t>High recall (98.4%) ensures most dementia cases are correctly flagged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en-US" sz="20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000" b="1" dirty="0"/>
              <a:t>Only 1 false negative — missing a case is riskier than a false alarm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en-US" sz="20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000" b="1" dirty="0"/>
              <a:t>Lower accuracy (51%) is acceptable when prioritizing early detection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en-US" sz="20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000" b="1" dirty="0"/>
              <a:t>The model can flag high-risk cases for urgent review by clinicians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en-US" sz="20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000" b="1" dirty="0"/>
              <a:t>These flagged cases can be accompanied by an explanation of what the model saw — setting the stage for explainable AI (XAI)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40775" y="142065"/>
            <a:ext cx="8206700" cy="212633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272D45"/>
                </a:solidFill>
                <a:ea typeface="Kanit Light" pitchFamily="34" charset="-122"/>
                <a:cs typeface="Kanit Light" pitchFamily="34" charset="-120"/>
              </a:rPr>
              <a:t>From Predictions to Explanations: 3D Grad-CAM + Brain Atlas Integration</a:t>
            </a:r>
          </a:p>
        </p:txBody>
      </p:sp>
      <p:sp>
        <p:nvSpPr>
          <p:cNvPr id="9" name="Text Box 8"/>
          <p:cNvSpPr txBox="1"/>
          <p:nvPr/>
        </p:nvSpPr>
        <p:spPr>
          <a:xfrm>
            <a:off x="6181161" y="2267737"/>
            <a:ext cx="7659017" cy="5712841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2000" b="1" dirty="0"/>
              <a:t>Most XAI methods (SHAP, LIME, 2D Grad-CAM) are designed for flat, non-volumetric data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2000" b="1" dirty="0"/>
              <a:t>But brain MRIs are 3D structures — slicing them into 2D loses critical spatial context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2000" b="1" dirty="0">
                <a:solidFill>
                  <a:schemeClr val="accent2">
                    <a:lumMod val="75000"/>
                  </a:schemeClr>
                </a:solidFill>
              </a:rPr>
              <a:t>We implemented true volumetric 3D Grad-CAM, preserving anatomical continuity across planes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2000" b="1" dirty="0"/>
              <a:t>This fills the gap: now, clinicians see where in the full brain volume the model focused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2000" b="1" dirty="0"/>
              <a:t>Standard saliency maps show “something lit up” — but don’t explain what region it was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2000" b="1" dirty="0">
                <a:solidFill>
                  <a:schemeClr val="accent2">
                    <a:lumMod val="75000"/>
                  </a:schemeClr>
                </a:solidFill>
              </a:rPr>
              <a:t>Our solution: map Grad-CAM activations to the Harvard-Oxford Atlas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The Harvard-Oxford Cortical Atlas is a probabilistic brain atlas that divides the cerebral cortex into named regions based on anatomy.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2000" b="1" dirty="0"/>
              <a:t>This bridges AI attention with named, clinically recognized brain regions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2000" b="1" dirty="0"/>
              <a:t>Clinicians don’t just see a hot spot — they see why the model predicted AD, and where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2"/>
          <p:cNvSpPr txBox="1"/>
          <p:nvPr/>
        </p:nvSpPr>
        <p:spPr>
          <a:xfrm>
            <a:off x="667630" y="5775050"/>
            <a:ext cx="13643365" cy="212879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altLang="en-US" sz="2000" b="1" dirty="0"/>
              <a:t>Key Observations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2000" dirty="0"/>
              <a:t>The most intense activations are clustered around the medial temporal lobe and hippocampal region, especially in the coronal and sagittal views.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2000" dirty="0"/>
              <a:t>These areas are clinically significant for Alzheimer’s disease and related dementias, as the hippocampus is one of the earliest regions to show atrophy in neurodegenerative processes.</a:t>
            </a:r>
          </a:p>
        </p:txBody>
      </p:sp>
      <p:sp>
        <p:nvSpPr>
          <p:cNvPr id="4" name="Text Box 3"/>
          <p:cNvSpPr txBox="1"/>
          <p:nvPr/>
        </p:nvSpPr>
        <p:spPr>
          <a:xfrm>
            <a:off x="571500" y="325755"/>
            <a:ext cx="13545185" cy="74668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sz="4450" b="1" dirty="0"/>
              <a:t>What the Doctors see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9405" y="1161415"/>
            <a:ext cx="13991590" cy="435673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gradcam_axial (1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39750"/>
            <a:ext cx="7501890" cy="7501890"/>
          </a:xfrm>
          <a:prstGeom prst="rect">
            <a:avLst/>
          </a:prstGeom>
        </p:spPr>
      </p:pic>
      <p:sp>
        <p:nvSpPr>
          <p:cNvPr id="3" name="Text Box 2"/>
          <p:cNvSpPr txBox="1"/>
          <p:nvPr/>
        </p:nvSpPr>
        <p:spPr>
          <a:xfrm>
            <a:off x="286080" y="424003"/>
            <a:ext cx="13620115" cy="107124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altLang="en-US" sz="4450" b="1" dirty="0"/>
              <a:t>Inside the Model’s Mind: Grad-CAM in Action</a:t>
            </a:r>
          </a:p>
        </p:txBody>
      </p:sp>
      <p:sp>
        <p:nvSpPr>
          <p:cNvPr id="4" name="Text Box 3"/>
          <p:cNvSpPr txBox="1"/>
          <p:nvPr/>
        </p:nvSpPr>
        <p:spPr>
          <a:xfrm>
            <a:off x="7914005" y="2822575"/>
            <a:ext cx="6337935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000" b="1" dirty="0"/>
              <a:t>This animated overlay was created by us directly from our model’s Grad-CAM output and original MRI scans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en-US" sz="20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000" b="1" dirty="0"/>
              <a:t>Each frame shows an axial slice of the brain with heatmap activations overlaid on the corresponding MRI section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en-US" sz="20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000" b="1" dirty="0"/>
              <a:t>It helps visualize how our model's attention moves through the brain volume, providing clinical insight into region-wise predictions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226060" y="122748"/>
            <a:ext cx="14145260" cy="82169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altLang="en-US" sz="4450" b="1" dirty="0"/>
              <a:t>Full Harvard-Oxford Cortical Atlas Activation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4180" y="944245"/>
            <a:ext cx="6062980" cy="7251065"/>
          </a:xfrm>
          <a:prstGeom prst="rect">
            <a:avLst/>
          </a:prstGeom>
        </p:spPr>
      </p:pic>
      <p:sp>
        <p:nvSpPr>
          <p:cNvPr id="4" name="Text Box 3"/>
          <p:cNvSpPr txBox="1"/>
          <p:nvPr/>
        </p:nvSpPr>
        <p:spPr>
          <a:xfrm>
            <a:off x="6685280" y="1250066"/>
            <a:ext cx="7221855" cy="6308202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altLang="en-US" sz="2000" b="1" dirty="0"/>
              <a:t>What the Model Focused On</a:t>
            </a:r>
          </a:p>
          <a:p>
            <a:endParaRPr lang="en-US" altLang="en-US" sz="2000" dirty="0"/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altLang="en-US" sz="2000" b="1" dirty="0"/>
              <a:t>Highlighted Regions: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en-US" sz="2000" b="1" dirty="0"/>
              <a:t>Frontal areas (frontal pole, orbital cortex): </a:t>
            </a:r>
            <a:r>
              <a:rPr lang="en-US" altLang="en-US" sz="2000" dirty="0"/>
              <a:t>linked to planning and decision-making — often impacted early in dementia.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en-US" sz="2000" b="1" dirty="0"/>
              <a:t>Insula and opercular zones: </a:t>
            </a:r>
            <a:r>
              <a:rPr lang="en-US" altLang="en-US" sz="2000" dirty="0"/>
              <a:t>help integrate sensory and emotional info.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en-US" sz="2000" b="1" dirty="0"/>
              <a:t>Anterior cingulate: </a:t>
            </a:r>
            <a:r>
              <a:rPr lang="en-US" altLang="en-US" sz="2000" dirty="0"/>
              <a:t>plays a role in attention and motivation.</a:t>
            </a:r>
          </a:p>
          <a:p>
            <a:endParaRPr lang="en-US" altLang="en-US" sz="2000" dirty="0"/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altLang="en-US" sz="2000" b="1" dirty="0"/>
              <a:t>What It Missed: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en-US" sz="2000" dirty="0"/>
              <a:t>Temporal lobe structures like the </a:t>
            </a:r>
            <a:r>
              <a:rPr lang="en-US" altLang="en-US" sz="2000" b="1" dirty="0" err="1"/>
              <a:t>parahippocampal</a:t>
            </a:r>
            <a:r>
              <a:rPr lang="en-US" altLang="en-US" sz="2000" dirty="0"/>
              <a:t> </a:t>
            </a:r>
            <a:r>
              <a:rPr lang="en-US" altLang="en-US" sz="2000" b="1" dirty="0" err="1"/>
              <a:t>gryus</a:t>
            </a:r>
            <a:r>
              <a:rPr lang="en-US" altLang="en-US" sz="2000" dirty="0"/>
              <a:t> and </a:t>
            </a:r>
            <a:r>
              <a:rPr lang="en-US" altLang="en-US" sz="2000" b="1" dirty="0"/>
              <a:t>fusiform areas </a:t>
            </a:r>
            <a:r>
              <a:rPr lang="en-US" altLang="en-US" sz="2000" dirty="0"/>
              <a:t>- key for memory.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en-US" sz="2000" b="1" dirty="0"/>
              <a:t>Posterior regions </a:t>
            </a:r>
            <a:r>
              <a:rPr lang="en-US" altLang="en-US" sz="2000" dirty="0"/>
              <a:t>(e.g., precuneous, occipital) tied to visual-spatial awareness.</a:t>
            </a:r>
          </a:p>
          <a:p>
            <a:endParaRPr lang="en-US" altLang="en-US" sz="2000" dirty="0"/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altLang="en-US" sz="2000" b="1" dirty="0"/>
              <a:t>Summary</a:t>
            </a:r>
            <a:r>
              <a:rPr lang="en-US" altLang="en-US" sz="2000" dirty="0"/>
              <a:t>: The model focused more on cognitive control areas than on classic memory regions.</a:t>
            </a:r>
          </a:p>
          <a:p>
            <a:endParaRPr lang="en-US" altLang="en-US" sz="2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190484" y="1969413"/>
            <a:ext cx="12249432" cy="583378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285750" marR="0" indent="-28575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altLang="en-US" sz="2400" b="1" dirty="0">
                <a:solidFill>
                  <a:srgbClr val="2C3249"/>
                </a:solidFill>
                <a:cs typeface="Martel Sans" panose="00000800000000000000" pitchFamily="34" charset="-120"/>
              </a:rPr>
              <a:t>Our 3D CNN models, built on ResNet architectures, can identify high-risk dementia cases with strong recall</a:t>
            </a:r>
          </a:p>
          <a:p>
            <a:pPr marL="285750" marR="0" indent="-28575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altLang="en-US" sz="2400" b="1" dirty="0">
                <a:solidFill>
                  <a:srgbClr val="2C3249"/>
                </a:solidFill>
                <a:cs typeface="Martel Sans" panose="00000800000000000000" pitchFamily="34" charset="-120"/>
              </a:rPr>
              <a:t>With 3D Grad-CAM and anatomical mapping, these models don’t just predict - they explain why</a:t>
            </a:r>
          </a:p>
          <a:p>
            <a:pPr marL="285750" marR="0" indent="-28575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altLang="en-US" sz="2400" b="1" dirty="0">
                <a:solidFill>
                  <a:srgbClr val="2C3249"/>
                </a:solidFill>
                <a:cs typeface="Martel Sans" panose="00000800000000000000" pitchFamily="34" charset="-120"/>
              </a:rPr>
              <a:t>This positions AI as a clinical assistant, not a replacement - supporting doctors with insight, not just output</a:t>
            </a:r>
          </a:p>
          <a:p>
            <a:pPr marL="285750" marR="0" indent="-28575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altLang="en-US" sz="2400" b="1" dirty="0">
                <a:solidFill>
                  <a:srgbClr val="2C3249"/>
                </a:solidFill>
                <a:cs typeface="Martel Sans" panose="00000800000000000000" pitchFamily="34" charset="-120"/>
              </a:rPr>
              <a:t>We are continuing to scale model performance using deeper architectures like ResNet-50 and beyond</a:t>
            </a:r>
          </a:p>
          <a:p>
            <a:pPr marL="285750" marR="0" indent="-28575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altLang="en-US" sz="2400" b="1" dirty="0">
                <a:solidFill>
                  <a:srgbClr val="2C3249"/>
                </a:solidFill>
                <a:cs typeface="Martel Sans" panose="00000800000000000000" pitchFamily="34" charset="-120"/>
              </a:rPr>
              <a:t>The next step: collaborate with clinicians, present our heatmaps and region-based explanations, and gather real-world feedback on usability and trust</a:t>
            </a:r>
          </a:p>
          <a:p>
            <a:pPr marL="285750" marR="0" indent="-28575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altLang="en-US" sz="2400" b="1" dirty="0">
                <a:solidFill>
                  <a:srgbClr val="2C3249"/>
                </a:solidFill>
                <a:cs typeface="Martel Sans" panose="00000800000000000000" pitchFamily="34" charset="-120"/>
              </a:rPr>
              <a:t>This is not just model development - it’s a step toward clinically grounded, explainable, and human-centered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735" y="606425"/>
            <a:ext cx="14050010" cy="120586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lang="en-US" altLang="en-US" sz="4450" b="1" dirty="0">
                <a:ln/>
              </a:rPr>
              <a:t>Conclusion: From Prediction to Partnership: Building Trustworthy AI in Healthcare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1121*564"/>
  <p:tag name="TABLE_ENDDRAG_RECT" val="20*76*1121*564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625*305"/>
  <p:tag name="TABLE_ENDDRAG_RECT" val="258*69*625*305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136</TotalTime>
  <Words>1779</Words>
  <Application>Microsoft Office PowerPoint</Application>
  <PresentationFormat>Custom</PresentationFormat>
  <Paragraphs>250</Paragraphs>
  <Slides>18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5" baseType="lpstr">
      <vt:lpstr>Calibri</vt:lpstr>
      <vt:lpstr>Segoe UI</vt:lpstr>
      <vt:lpstr>Kanit Light</vt:lpstr>
      <vt:lpstr>Martel Sans</vt:lpstr>
      <vt:lpstr>Wingdings</vt:lpstr>
      <vt:lpstr>Arial</vt:lpstr>
      <vt:lpstr>Office Theme</vt:lpstr>
      <vt:lpstr>Beyond the Black Box: A Story of Trust, Transparency, and Technology in Alzheimer’s Detection  Team Guardians of the Galaxy Under the guidance of Dr. Tim Smith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Debjani Sarma</cp:lastModifiedBy>
  <cp:revision>41</cp:revision>
  <dcterms:created xsi:type="dcterms:W3CDTF">2025-04-18T05:59:00Z</dcterms:created>
  <dcterms:modified xsi:type="dcterms:W3CDTF">2025-05-05T20:17:11Z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74471817BB234646AD0F99E296A305DA_13</vt:lpwstr>
  </property>
  <property fmtid="{D5CDD505-2E9C-101B-9397-08002B2CF9AE}" pid="3" name="KSOProductBuildVer">
    <vt:lpwstr>1033-12.2.0.20795</vt:lpwstr>
  </property>
</Properties>
</file>